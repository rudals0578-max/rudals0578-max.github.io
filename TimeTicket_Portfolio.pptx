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57" r:id="rId4"/>
    <p:sldId id="270" r:id="rId5"/>
    <p:sldId id="272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C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67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40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png"/><Relationship Id="rId7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2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99637" y="0"/>
            <a:ext cx="6289315" cy="6858000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53035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 dirty="0">
                <a:solidFill>
                  <a:srgbClr val="19191D"/>
                </a:solidFill>
                <a:latin typeface="Aptos"/>
              </a:rPr>
              <a:t>React </a:t>
            </a:r>
            <a:r>
              <a:rPr sz="3400" b="1" dirty="0" err="1">
                <a:solidFill>
                  <a:srgbClr val="19191D"/>
                </a:solidFill>
                <a:latin typeface="Aptos"/>
              </a:rPr>
              <a:t>기반</a:t>
            </a:r>
            <a:r>
              <a:rPr sz="3400" b="1" dirty="0">
                <a:solidFill>
                  <a:srgbClr val="19191D"/>
                </a:solidFill>
                <a:latin typeface="Aptos"/>
              </a:rPr>
              <a:t>
</a:t>
            </a:r>
            <a:r>
              <a:rPr sz="3400" b="1" dirty="0" err="1">
                <a:solidFill>
                  <a:srgbClr val="19191D"/>
                </a:solidFill>
                <a:latin typeface="Aptos"/>
              </a:rPr>
              <a:t>티켓</a:t>
            </a:r>
            <a:r>
              <a:rPr sz="3400" b="1" dirty="0">
                <a:solidFill>
                  <a:srgbClr val="19191D"/>
                </a:solidFill>
                <a:latin typeface="Aptos"/>
              </a:rPr>
              <a:t> </a:t>
            </a:r>
            <a:r>
              <a:rPr sz="3400" b="1" dirty="0" err="1">
                <a:solidFill>
                  <a:srgbClr val="19191D"/>
                </a:solidFill>
                <a:latin typeface="Aptos"/>
              </a:rPr>
              <a:t>예매</a:t>
            </a:r>
            <a:r>
              <a:rPr sz="3400" b="1" dirty="0">
                <a:solidFill>
                  <a:srgbClr val="19191D"/>
                </a:solidFill>
                <a:latin typeface="Aptos"/>
              </a:rPr>
              <a:t> 웹 </a:t>
            </a:r>
            <a:r>
              <a:rPr sz="3400" b="1" dirty="0" err="1">
                <a:solidFill>
                  <a:srgbClr val="19191D"/>
                </a:solidFill>
                <a:latin typeface="Aptos"/>
              </a:rPr>
              <a:t>서비스</a:t>
            </a:r>
            <a:endParaRPr sz="3400" b="1" dirty="0">
              <a:solidFill>
                <a:srgbClr val="19191D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3373130"/>
            <a:ext cx="530352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 err="1">
                <a:solidFill>
                  <a:srgbClr val="6C6C74"/>
                </a:solidFill>
                <a:latin typeface="Aptos"/>
              </a:rPr>
              <a:t>사용자</a:t>
            </a:r>
            <a:r>
              <a:rPr sz="14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C6C74"/>
                </a:solidFill>
                <a:latin typeface="Aptos"/>
              </a:rPr>
              <a:t>탐색부터</a:t>
            </a:r>
            <a:r>
              <a:rPr sz="14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C6C74"/>
                </a:solidFill>
                <a:latin typeface="Aptos"/>
              </a:rPr>
              <a:t>예매까지의</a:t>
            </a:r>
            <a:r>
              <a:rPr sz="14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C6C74"/>
                </a:solidFill>
                <a:latin typeface="Aptos"/>
              </a:rPr>
              <a:t>흐름을</a:t>
            </a:r>
            <a:r>
              <a:rPr sz="14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C6C74"/>
                </a:solidFill>
                <a:latin typeface="Aptos"/>
              </a:rPr>
              <a:t>구현한</a:t>
            </a:r>
            <a:r>
              <a:rPr sz="1400" b="0" dirty="0">
                <a:solidFill>
                  <a:srgbClr val="6C6C74"/>
                </a:solidFill>
                <a:latin typeface="Aptos"/>
              </a:rPr>
              <a:t>
</a:t>
            </a:r>
            <a:r>
              <a:rPr sz="1400" b="1" dirty="0">
                <a:solidFill>
                  <a:srgbClr val="6C6C74"/>
                </a:solidFill>
                <a:latin typeface="Aptos"/>
              </a:rPr>
              <a:t>Front-end Portfolio Project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279392"/>
            <a:ext cx="786384" cy="320040"/>
          </a:xfrm>
          <a:prstGeom prst="round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331690"/>
            <a:ext cx="786384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00" dirty="0"/>
              <a:t>⚛️  </a:t>
            </a:r>
            <a:r>
              <a:rPr sz="800" b="1" dirty="0">
                <a:solidFill>
                  <a:srgbClr val="FF4C4C"/>
                </a:solidFill>
                <a:latin typeface="Aptos"/>
              </a:rPr>
              <a:t>REACT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83080" y="4279392"/>
            <a:ext cx="786384" cy="320040"/>
          </a:xfrm>
          <a:prstGeom prst="round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83080" y="4331690"/>
            <a:ext cx="786384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00" dirty="0"/>
              <a:t>📜  </a:t>
            </a:r>
            <a:r>
              <a:rPr sz="800" b="1" dirty="0">
                <a:solidFill>
                  <a:srgbClr val="FF4C4C"/>
                </a:solidFill>
                <a:latin typeface="Aptos"/>
              </a:rPr>
              <a:t>JS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4279392"/>
            <a:ext cx="786384" cy="320040"/>
          </a:xfrm>
          <a:prstGeom prst="round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0" y="4331690"/>
            <a:ext cx="786384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00" dirty="0"/>
              <a:t>🎨  </a:t>
            </a:r>
            <a:r>
              <a:rPr sz="800" b="1" dirty="0">
                <a:solidFill>
                  <a:srgbClr val="FF4C4C"/>
                </a:solidFill>
                <a:latin typeface="Aptos"/>
              </a:rPr>
              <a:t>CSS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4279392"/>
            <a:ext cx="786384" cy="320040"/>
          </a:xfrm>
          <a:prstGeom prst="round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03320" y="4331690"/>
            <a:ext cx="786384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00" dirty="0"/>
              <a:t>🧭  </a:t>
            </a:r>
            <a:r>
              <a:rPr sz="800" b="1" dirty="0">
                <a:solidFill>
                  <a:srgbClr val="FF4C4C"/>
                </a:solidFill>
                <a:latin typeface="Aptos"/>
              </a:rPr>
              <a:t>ROUTER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4279392"/>
            <a:ext cx="786384" cy="320040"/>
          </a:xfrm>
          <a:prstGeom prst="round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4331690"/>
            <a:ext cx="786384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00" dirty="0"/>
              <a:t>💾  </a:t>
            </a:r>
            <a:r>
              <a:rPr sz="800" b="1" dirty="0">
                <a:solidFill>
                  <a:srgbClr val="FF4C4C"/>
                </a:solidFill>
                <a:latin typeface="Aptos"/>
              </a:rP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6952" y="3150107"/>
            <a:ext cx="383133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4C4C"/>
                </a:solidFill>
                <a:latin typeface="Aptos"/>
              </a:rPr>
              <a:t>메인 화면 캡처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053328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C6C74"/>
                </a:solidFill>
                <a:latin typeface="Aptos"/>
              </a:rPr>
              <a:t>Portfolio Presentation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E7984B26-1922-4FD5-9A07-B229B98AE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199" y="1138559"/>
            <a:ext cx="5476971" cy="460831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5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786" y="1513544"/>
            <a:ext cx="1005929" cy="219075"/>
          </a:xfrm>
          <a:prstGeom prst="rect">
            <a:avLst/>
          </a:prstGeom>
        </p:spPr>
      </p:pic>
      <p:pic>
        <p:nvPicPr>
          <p:cNvPr id="26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915" y="1513544"/>
            <a:ext cx="951011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BE26826E-5874-49E4-81B5-36F0A53CA78D}"/>
              </a:ext>
            </a:extLst>
          </p:cNvPr>
          <p:cNvSpPr/>
          <p:nvPr/>
        </p:nvSpPr>
        <p:spPr>
          <a:xfrm>
            <a:off x="6180786" y="4163418"/>
            <a:ext cx="4506543" cy="682235"/>
          </a:xfrm>
          <a:prstGeom prst="round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64641F1-25D8-4D9A-AB54-9631E6E987FA}"/>
              </a:ext>
            </a:extLst>
          </p:cNvPr>
          <p:cNvSpPr/>
          <p:nvPr/>
        </p:nvSpPr>
        <p:spPr>
          <a:xfrm>
            <a:off x="969655" y="4164194"/>
            <a:ext cx="4506543" cy="682235"/>
          </a:xfrm>
          <a:prstGeom prst="round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8F6FAF7-6419-4584-B76E-9149685C66C4}"/>
              </a:ext>
            </a:extLst>
          </p:cNvPr>
          <p:cNvSpPr/>
          <p:nvPr/>
        </p:nvSpPr>
        <p:spPr>
          <a:xfrm>
            <a:off x="6179002" y="3021751"/>
            <a:ext cx="4506543" cy="682235"/>
          </a:xfrm>
          <a:prstGeom prst="round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DA0093FB-EEA2-4DC9-873C-B31ACC67FB3C}"/>
              </a:ext>
            </a:extLst>
          </p:cNvPr>
          <p:cNvSpPr/>
          <p:nvPr/>
        </p:nvSpPr>
        <p:spPr>
          <a:xfrm>
            <a:off x="968706" y="3021752"/>
            <a:ext cx="4506543" cy="682235"/>
          </a:xfrm>
          <a:prstGeom prst="round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83E3F6B-9991-48B0-B878-B00091E16F48}"/>
              </a:ext>
            </a:extLst>
          </p:cNvPr>
          <p:cNvSpPr/>
          <p:nvPr/>
        </p:nvSpPr>
        <p:spPr>
          <a:xfrm>
            <a:off x="6180786" y="1877417"/>
            <a:ext cx="4506543" cy="682235"/>
          </a:xfrm>
          <a:prstGeom prst="round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DCF31643-037B-4729-AEC3-C5A29FB1082D}"/>
              </a:ext>
            </a:extLst>
          </p:cNvPr>
          <p:cNvSpPr/>
          <p:nvPr/>
        </p:nvSpPr>
        <p:spPr>
          <a:xfrm>
            <a:off x="960121" y="1876745"/>
            <a:ext cx="4506543" cy="682235"/>
          </a:xfrm>
          <a:prstGeom prst="round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Rounded Rectangle 1"/>
          <p:cNvSpPr/>
          <p:nvPr/>
        </p:nvSpPr>
        <p:spPr>
          <a:xfrm>
            <a:off x="566928" y="329184"/>
            <a:ext cx="621792" cy="347472"/>
          </a:xfrm>
          <a:prstGeom prst="round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79809"/>
            <a:ext cx="621792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ptos"/>
              </a:rPr>
              <a:t>01</a:t>
            </a:r>
            <a:endParaRPr sz="1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926887"/>
            <a:ext cx="3291840" cy="5693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ko-KR" altLang="en-US" sz="3100" b="1" dirty="0">
                <a:solidFill>
                  <a:srgbClr val="19191D"/>
                </a:solidFill>
                <a:latin typeface="Aptos"/>
              </a:rPr>
              <a:t>프로젝트 목차</a:t>
            </a:r>
            <a:endParaRPr sz="3100" b="1" dirty="0">
              <a:solidFill>
                <a:srgbClr val="19191D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60120" y="1920240"/>
            <a:ext cx="4526280" cy="749808"/>
          </a:xfrm>
          <a:prstGeom prst="round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08483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4C4C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5064" y="2013240"/>
            <a:ext cx="164592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ko-KR" altLang="en-US" sz="1400" b="1" dirty="0">
                <a:solidFill>
                  <a:srgbClr val="19191D"/>
                </a:solidFill>
                <a:latin typeface="Aptos"/>
              </a:rPr>
              <a:t>기획 및 개발</a:t>
            </a:r>
            <a:r>
              <a:rPr sz="1400" b="1" dirty="0">
                <a:solidFill>
                  <a:srgbClr val="19191D"/>
                </a:solidFill>
                <a:latin typeface="Aptos"/>
              </a:rPr>
              <a:t> </a:t>
            </a:r>
            <a:r>
              <a:rPr lang="ko-KR" altLang="en-US" sz="1400" b="1" dirty="0">
                <a:solidFill>
                  <a:srgbClr val="19191D"/>
                </a:solidFill>
                <a:latin typeface="Aptos"/>
              </a:rPr>
              <a:t>목표</a:t>
            </a:r>
            <a:endParaRPr sz="1400" b="1" dirty="0">
              <a:solidFill>
                <a:srgbClr val="19191D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55064" y="2331720"/>
            <a:ext cx="3108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ko-KR" altLang="en-US" sz="900" dirty="0">
                <a:solidFill>
                  <a:srgbClr val="6C6C74"/>
                </a:solidFill>
                <a:latin typeface="Aptos"/>
              </a:rPr>
              <a:t>플랫폼</a:t>
            </a:r>
            <a:r>
              <a:rPr lang="ko-KR" altLang="en-US" sz="900" b="0" dirty="0">
                <a:solidFill>
                  <a:srgbClr val="6C6C74"/>
                </a:solidFill>
                <a:latin typeface="Aptos"/>
              </a:rPr>
              <a:t> 분석과 </a:t>
            </a:r>
            <a:r>
              <a:rPr lang="ko-KR" altLang="en-US" sz="900" b="0" dirty="0" err="1">
                <a:solidFill>
                  <a:srgbClr val="6C6C74"/>
                </a:solidFill>
                <a:latin typeface="Aptos"/>
              </a:rPr>
              <a:t>프론트엔드</a:t>
            </a:r>
            <a:r>
              <a:rPr lang="ko-KR" altLang="en-US" sz="900" b="0" dirty="0">
                <a:solidFill>
                  <a:srgbClr val="6C6C74"/>
                </a:solidFill>
                <a:latin typeface="Aptos"/>
              </a:rPr>
              <a:t> 핵심 구현 방향</a:t>
            </a:r>
            <a:endParaRPr sz="900" b="0" dirty="0">
              <a:solidFill>
                <a:srgbClr val="6C6C74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72200" y="1920240"/>
            <a:ext cx="4526280" cy="749808"/>
          </a:xfrm>
          <a:prstGeom prst="round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208483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4C4C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67144" y="2029968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9191D"/>
                </a:solidFill>
                <a:latin typeface="Aptos"/>
              </a:rPr>
              <a:t>프로젝트 구조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67144" y="2331720"/>
            <a:ext cx="3108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dirty="0">
                <a:solidFill>
                  <a:srgbClr val="6C6C74"/>
                </a:solidFill>
                <a:latin typeface="Aptos"/>
              </a:rPr>
              <a:t>Components · CSS · Data </a:t>
            </a:r>
            <a:r>
              <a:rPr sz="900" b="0" dirty="0" err="1">
                <a:solidFill>
                  <a:srgbClr val="6C6C74"/>
                </a:solidFill>
                <a:latin typeface="Aptos"/>
              </a:rPr>
              <a:t>역할별</a:t>
            </a:r>
            <a:r>
              <a:rPr sz="9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900" b="0" dirty="0" err="1">
                <a:solidFill>
                  <a:srgbClr val="6C6C74"/>
                </a:solidFill>
                <a:latin typeface="Aptos"/>
              </a:rPr>
              <a:t>분리</a:t>
            </a:r>
            <a:r>
              <a:rPr lang="en-US" sz="900" b="0" dirty="0">
                <a:solidFill>
                  <a:srgbClr val="6C6C74"/>
                </a:solidFill>
                <a:latin typeface="Aptos"/>
              </a:rPr>
              <a:t>, </a:t>
            </a:r>
            <a:r>
              <a:rPr lang="ko-KR" altLang="en-US" sz="900" b="0" dirty="0">
                <a:solidFill>
                  <a:srgbClr val="6C6C74"/>
                </a:solidFill>
                <a:latin typeface="Aptos"/>
              </a:rPr>
              <a:t>라우팅 구조</a:t>
            </a:r>
            <a:endParaRPr sz="900" b="0" dirty="0">
              <a:solidFill>
                <a:srgbClr val="6C6C74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60120" y="3063240"/>
            <a:ext cx="4526280" cy="749808"/>
          </a:xfrm>
          <a:prstGeom prst="round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322783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4C4C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" y="3172968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9191D"/>
                </a:solidFill>
                <a:latin typeface="Aptos"/>
              </a:rPr>
              <a:t>화면 구현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5064" y="3474720"/>
            <a:ext cx="3108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C6C74"/>
                </a:solidFill>
                <a:latin typeface="Aptos"/>
              </a:rPr>
              <a:t>메인 · 검색 · 전체 티켓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063240"/>
            <a:ext cx="4526280" cy="749808"/>
          </a:xfrm>
          <a:prstGeom prst="round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322783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4C4C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7144" y="3172968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9191D"/>
                </a:solidFill>
                <a:latin typeface="Aptos"/>
              </a:rPr>
              <a:t>핵심 기능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3474720"/>
            <a:ext cx="3108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C6C74"/>
                </a:solidFill>
                <a:latin typeface="Aptos"/>
              </a:rPr>
              <a:t>캘린더 · 내 주변 · 또래픽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4206240"/>
            <a:ext cx="4526280" cy="749808"/>
          </a:xfrm>
          <a:prstGeom prst="round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3000" y="4370831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4C4C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55064" y="4315968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9191D"/>
                </a:solidFill>
                <a:latin typeface="Aptos"/>
              </a:rPr>
              <a:t>예매 기능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55064" y="4617720"/>
            <a:ext cx="3108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C6C74"/>
                </a:solidFill>
                <a:latin typeface="Aptos"/>
              </a:rPr>
              <a:t>날짜/시간/권종/수량과 금액 계산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206240"/>
            <a:ext cx="4526280" cy="749808"/>
          </a:xfrm>
          <a:prstGeom prst="round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4370831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4C4C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67144" y="4315968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9191D"/>
                </a:solidFill>
                <a:latin typeface="Aptos"/>
              </a:rPr>
              <a:t>확장 계획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67144" y="4617720"/>
            <a:ext cx="3108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C6C74"/>
                </a:solidFill>
                <a:latin typeface="Aptos"/>
              </a:rPr>
              <a:t>Kakao Map API / DB / 인증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28232"/>
            <a:ext cx="3108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6C6C74"/>
                </a:solidFill>
                <a:latin typeface="Aptos"/>
              </a:rPr>
              <a:t>TIME TICKET · REACT PORTFOLIO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6C6C74"/>
                </a:solidFill>
                <a:latin typeface="Aptos"/>
              </a:rPr>
              <a:t>02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BC9520-792C-4C03-9FDB-6B241D2B307E}"/>
              </a:ext>
            </a:extLst>
          </p:cNvPr>
          <p:cNvSpPr txBox="1"/>
          <p:nvPr/>
        </p:nvSpPr>
        <p:spPr>
          <a:xfrm>
            <a:off x="1298448" y="347472"/>
            <a:ext cx="3474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 dirty="0">
                <a:solidFill>
                  <a:srgbClr val="FF4C4C"/>
                </a:solidFill>
                <a:latin typeface="Aptos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748514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94CF4013-A12C-40A7-B3E3-C87F4BB983A3}"/>
              </a:ext>
            </a:extLst>
          </p:cNvPr>
          <p:cNvSpPr/>
          <p:nvPr/>
        </p:nvSpPr>
        <p:spPr>
          <a:xfrm>
            <a:off x="6493035" y="1674129"/>
            <a:ext cx="4506543" cy="682235"/>
          </a:xfrm>
          <a:prstGeom prst="round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Rounded Rectangle 5">
            <a:extLst>
              <a:ext uri="{FF2B5EF4-FFF2-40B4-BE49-F238E27FC236}">
                <a16:creationId xmlns:a16="http://schemas.microsoft.com/office/drawing/2014/main" id="{470F828F-C1A9-47CC-BD02-98F1B64BE50E}"/>
              </a:ext>
            </a:extLst>
          </p:cNvPr>
          <p:cNvSpPr/>
          <p:nvPr/>
        </p:nvSpPr>
        <p:spPr>
          <a:xfrm>
            <a:off x="6493034" y="1717624"/>
            <a:ext cx="4526280" cy="749808"/>
          </a:xfrm>
          <a:prstGeom prst="round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10E80DEE-A85D-408C-B981-0FE29030E52F}"/>
              </a:ext>
            </a:extLst>
          </p:cNvPr>
          <p:cNvSpPr/>
          <p:nvPr/>
        </p:nvSpPr>
        <p:spPr>
          <a:xfrm>
            <a:off x="839129" y="1699005"/>
            <a:ext cx="4506543" cy="682235"/>
          </a:xfrm>
          <a:prstGeom prst="round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Rounded Rectangle 5">
            <a:extLst>
              <a:ext uri="{FF2B5EF4-FFF2-40B4-BE49-F238E27FC236}">
                <a16:creationId xmlns:a16="http://schemas.microsoft.com/office/drawing/2014/main" id="{DFB55B11-EA6E-49ED-83B4-41F57789F032}"/>
              </a:ext>
            </a:extLst>
          </p:cNvPr>
          <p:cNvSpPr/>
          <p:nvPr/>
        </p:nvSpPr>
        <p:spPr>
          <a:xfrm>
            <a:off x="839128" y="1742500"/>
            <a:ext cx="4526280" cy="749808"/>
          </a:xfrm>
          <a:prstGeom prst="round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6" descr="image.png">
            <a:extLst>
              <a:ext uri="{FF2B5EF4-FFF2-40B4-BE49-F238E27FC236}">
                <a16:creationId xmlns:a16="http://schemas.microsoft.com/office/drawing/2014/main" id="{7DACBC04-1B39-49E2-B54E-87945ADE4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034" y="2712889"/>
            <a:ext cx="4526280" cy="2717760"/>
          </a:xfrm>
          <a:prstGeom prst="rect">
            <a:avLst/>
          </a:prstGeom>
        </p:spPr>
      </p:pic>
      <p:pic>
        <p:nvPicPr>
          <p:cNvPr id="32" name="Picture 5" descr="image.png">
            <a:extLst>
              <a:ext uri="{FF2B5EF4-FFF2-40B4-BE49-F238E27FC236}">
                <a16:creationId xmlns:a16="http://schemas.microsoft.com/office/drawing/2014/main" id="{46D0B76B-2254-4EE4-A55D-1FD48E38D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128" y="2742007"/>
            <a:ext cx="4526280" cy="2717759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566928" y="329184"/>
            <a:ext cx="621792" cy="347472"/>
          </a:xfrm>
          <a:prstGeom prst="round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79809"/>
            <a:ext cx="621792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ptos"/>
              </a:rPr>
              <a:t>02</a:t>
            </a:r>
            <a:endParaRPr sz="1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926887"/>
            <a:ext cx="3291840" cy="5693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ko-KR" altLang="en-US" sz="3100" b="1" dirty="0">
                <a:solidFill>
                  <a:srgbClr val="19191D"/>
                </a:solidFill>
                <a:latin typeface="Aptos"/>
              </a:rPr>
              <a:t>기획 및 개발 목표</a:t>
            </a:r>
            <a:endParaRPr sz="3100" b="1" dirty="0">
              <a:solidFill>
                <a:srgbClr val="19191D"/>
              </a:solidFill>
              <a:latin typeface="Aptos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8DD355D-88BF-4074-8573-EF69A13064B6}"/>
              </a:ext>
            </a:extLst>
          </p:cNvPr>
          <p:cNvGrpSpPr/>
          <p:nvPr/>
        </p:nvGrpSpPr>
        <p:grpSpPr>
          <a:xfrm>
            <a:off x="1143000" y="1831379"/>
            <a:ext cx="4149762" cy="547080"/>
            <a:chOff x="1143000" y="2013240"/>
            <a:chExt cx="4149762" cy="547080"/>
          </a:xfrm>
        </p:grpSpPr>
        <p:sp>
          <p:nvSpPr>
            <p:cNvPr id="7" name="TextBox 6"/>
            <p:cNvSpPr txBox="1"/>
            <p:nvPr/>
          </p:nvSpPr>
          <p:spPr>
            <a:xfrm>
              <a:off x="1143000" y="2084832"/>
              <a:ext cx="411480" cy="274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000" b="1">
                  <a:solidFill>
                    <a:srgbClr val="FF4C4C"/>
                  </a:solidFill>
                  <a:latin typeface="Aptos"/>
                </a:rPr>
                <a:t>01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655064" y="2013240"/>
              <a:ext cx="3637698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lang="ko-KR" altLang="en-US" sz="1400" b="1" dirty="0">
                  <a:solidFill>
                    <a:srgbClr val="19191D"/>
                  </a:solidFill>
                  <a:latin typeface="Aptos"/>
                </a:rPr>
                <a:t>플랫폼 분석 </a:t>
              </a:r>
              <a:r>
                <a:rPr lang="en-US" altLang="ko-KR" sz="1400" b="1" dirty="0">
                  <a:solidFill>
                    <a:srgbClr val="19191D"/>
                  </a:solidFill>
                  <a:latin typeface="Aptos"/>
                </a:rPr>
                <a:t>(Why </a:t>
              </a:r>
              <a:r>
                <a:rPr lang="en-US" altLang="ko-KR" sz="1400" b="1" dirty="0" err="1">
                  <a:solidFill>
                    <a:srgbClr val="19191D"/>
                  </a:solidFill>
                  <a:latin typeface="Aptos"/>
                </a:rPr>
                <a:t>TimeTicket</a:t>
              </a:r>
              <a:r>
                <a:rPr lang="en-US" altLang="ko-KR" sz="1400" b="1" dirty="0">
                  <a:solidFill>
                    <a:srgbClr val="19191D"/>
                  </a:solidFill>
                  <a:latin typeface="Aptos"/>
                </a:rPr>
                <a:t>?)</a:t>
              </a:r>
              <a:endParaRPr sz="1400" b="1" dirty="0">
                <a:solidFill>
                  <a:srgbClr val="19191D"/>
                </a:solidFill>
                <a:latin typeface="Apto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655064" y="2331720"/>
              <a:ext cx="3108960" cy="2286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lang="ko-KR" altLang="en-US" sz="900" b="0" dirty="0">
                  <a:solidFill>
                    <a:srgbClr val="6C6C74"/>
                  </a:solidFill>
                  <a:latin typeface="Aptos"/>
                </a:rPr>
                <a:t>시간 한정 기반의 문화예술 </a:t>
              </a:r>
              <a:r>
                <a:rPr lang="ko-KR" altLang="en-US" sz="900" b="0" dirty="0" err="1">
                  <a:solidFill>
                    <a:srgbClr val="6C6C74"/>
                  </a:solidFill>
                  <a:latin typeface="Aptos"/>
                </a:rPr>
                <a:t>타임커머스</a:t>
              </a:r>
              <a:endParaRPr sz="900" b="0" dirty="0">
                <a:solidFill>
                  <a:srgbClr val="6C6C74"/>
                </a:solidFill>
                <a:latin typeface="Aptos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C174B4C-43C5-436F-AB46-A773B12B9DCE}"/>
              </a:ext>
            </a:extLst>
          </p:cNvPr>
          <p:cNvGrpSpPr/>
          <p:nvPr/>
        </p:nvGrpSpPr>
        <p:grpSpPr>
          <a:xfrm>
            <a:off x="6705600" y="1831379"/>
            <a:ext cx="3621024" cy="547080"/>
            <a:chOff x="6355080" y="2013240"/>
            <a:chExt cx="3621024" cy="547080"/>
          </a:xfrm>
        </p:grpSpPr>
        <p:sp>
          <p:nvSpPr>
            <p:cNvPr id="11" name="TextBox 10"/>
            <p:cNvSpPr txBox="1"/>
            <p:nvPr/>
          </p:nvSpPr>
          <p:spPr>
            <a:xfrm>
              <a:off x="6355080" y="2084832"/>
              <a:ext cx="411480" cy="274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000" b="1">
                  <a:solidFill>
                    <a:srgbClr val="FF4C4C"/>
                  </a:solidFill>
                  <a:latin typeface="Aptos"/>
                </a:rPr>
                <a:t>02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867144" y="2013240"/>
              <a:ext cx="2948312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lang="ko-KR" altLang="en-US" sz="1400" b="1" dirty="0">
                  <a:solidFill>
                    <a:srgbClr val="19191D"/>
                  </a:solidFill>
                  <a:latin typeface="Aptos"/>
                </a:rPr>
                <a:t>개발 목표 </a:t>
              </a:r>
              <a:r>
                <a:rPr lang="en-US" altLang="ko-KR" sz="1400" b="1" dirty="0">
                  <a:solidFill>
                    <a:srgbClr val="19191D"/>
                  </a:solidFill>
                  <a:latin typeface="Aptos"/>
                </a:rPr>
                <a:t>(Tech Objectives)</a:t>
              </a:r>
              <a:endParaRPr sz="1400" b="1" dirty="0">
                <a:solidFill>
                  <a:srgbClr val="19191D"/>
                </a:solidFill>
                <a:latin typeface="Aptos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867144" y="2331720"/>
              <a:ext cx="3108960" cy="2286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lang="ko-KR" altLang="en-US" sz="900" dirty="0">
                  <a:solidFill>
                    <a:srgbClr val="6C6C74"/>
                  </a:solidFill>
                  <a:latin typeface="Aptos"/>
                </a:rPr>
                <a:t>데이터 모듈화와 사용자 중심 예매 흐름 완성</a:t>
              </a:r>
              <a:endParaRPr sz="900" b="0" dirty="0">
                <a:solidFill>
                  <a:srgbClr val="6C6C74"/>
                </a:solidFill>
                <a:latin typeface="Aptos"/>
              </a:endParaRP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566928" y="6428232"/>
            <a:ext cx="3108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6C6C74"/>
                </a:solidFill>
                <a:latin typeface="Aptos"/>
              </a:rPr>
              <a:t>TIME TICKET · REACT PORTFOLIO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6C6C74"/>
                </a:solidFill>
                <a:latin typeface="Aptos"/>
              </a:rPr>
              <a:t>02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48DDA01-DDC5-4715-8986-B0B0E4D93F7F}"/>
              </a:ext>
            </a:extLst>
          </p:cNvPr>
          <p:cNvSpPr txBox="1"/>
          <p:nvPr/>
        </p:nvSpPr>
        <p:spPr>
          <a:xfrm>
            <a:off x="1298448" y="393239"/>
            <a:ext cx="347472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900" b="1" dirty="0">
                <a:solidFill>
                  <a:srgbClr val="FF4C4C"/>
                </a:solidFill>
                <a:latin typeface="Aptos"/>
              </a:rPr>
              <a:t>PLANNING &amp; GOALS</a:t>
            </a:r>
            <a:endParaRPr sz="900" b="1" dirty="0">
              <a:solidFill>
                <a:srgbClr val="FF4C4C"/>
              </a:solidFill>
              <a:latin typeface="Apto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13426BB-9D48-4B01-AA18-3449BA3D94AF}"/>
              </a:ext>
            </a:extLst>
          </p:cNvPr>
          <p:cNvSpPr txBox="1"/>
          <p:nvPr/>
        </p:nvSpPr>
        <p:spPr>
          <a:xfrm>
            <a:off x="1123931" y="2946179"/>
            <a:ext cx="4340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•</a:t>
            </a:r>
            <a:r>
              <a:rPr lang="en-US" altLang="ko-KR" sz="1600" b="1" dirty="0">
                <a:solidFill>
                  <a:srgbClr val="19191D"/>
                </a:solidFill>
                <a:latin typeface="Aptos"/>
              </a:rPr>
              <a:t> </a:t>
            </a:r>
            <a:r>
              <a:rPr lang="ko-KR" altLang="en-US" sz="1600" b="1" dirty="0">
                <a:solidFill>
                  <a:srgbClr val="19191D"/>
                </a:solidFill>
                <a:latin typeface="Aptos"/>
              </a:rPr>
              <a:t>마감임박 비즈니스 모델</a:t>
            </a:r>
            <a:endParaRPr lang="ko-KR" altLang="en-US" sz="16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00CB27A-651A-47CD-86A0-10599021495C}"/>
              </a:ext>
            </a:extLst>
          </p:cNvPr>
          <p:cNvSpPr txBox="1"/>
          <p:nvPr/>
        </p:nvSpPr>
        <p:spPr>
          <a:xfrm>
            <a:off x="1188720" y="3819123"/>
            <a:ext cx="4340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•</a:t>
            </a:r>
            <a:r>
              <a:rPr lang="en-US" altLang="ko-KR" sz="1600" b="1" dirty="0">
                <a:solidFill>
                  <a:srgbClr val="19191D"/>
                </a:solidFill>
                <a:latin typeface="Aptos"/>
              </a:rPr>
              <a:t> </a:t>
            </a:r>
            <a:r>
              <a:rPr lang="ko-KR" altLang="en-US" sz="1600" b="1" dirty="0">
                <a:solidFill>
                  <a:srgbClr val="19191D"/>
                </a:solidFill>
                <a:latin typeface="Aptos"/>
              </a:rPr>
              <a:t>빠른 탐색 </a:t>
            </a:r>
            <a:r>
              <a:rPr lang="en-US" altLang="ko-KR" sz="1600" b="1" dirty="0">
                <a:solidFill>
                  <a:srgbClr val="19191D"/>
                </a:solidFill>
                <a:latin typeface="Aptos"/>
              </a:rPr>
              <a:t>UX</a:t>
            </a:r>
            <a:endParaRPr lang="ko-KR" altLang="en-US" sz="16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8AF948D-156E-4C4A-A212-FC212A271CCE}"/>
              </a:ext>
            </a:extLst>
          </p:cNvPr>
          <p:cNvSpPr txBox="1"/>
          <p:nvPr/>
        </p:nvSpPr>
        <p:spPr>
          <a:xfrm>
            <a:off x="1216389" y="4627153"/>
            <a:ext cx="4340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•</a:t>
            </a:r>
            <a:r>
              <a:rPr lang="en-US" altLang="ko-KR" sz="1600" b="1" dirty="0">
                <a:solidFill>
                  <a:srgbClr val="19191D"/>
                </a:solidFill>
                <a:latin typeface="Aptos"/>
              </a:rPr>
              <a:t> </a:t>
            </a:r>
            <a:r>
              <a:rPr lang="ko-KR" altLang="en-US" sz="1600" b="1" dirty="0">
                <a:solidFill>
                  <a:srgbClr val="19191D"/>
                </a:solidFill>
                <a:latin typeface="Aptos"/>
              </a:rPr>
              <a:t>구매 유도 인터랙션</a:t>
            </a:r>
            <a:endParaRPr lang="ko-KR" altLang="en-US" sz="16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0A23201-153D-42F2-BEE6-8248C5545232}"/>
              </a:ext>
            </a:extLst>
          </p:cNvPr>
          <p:cNvSpPr txBox="1"/>
          <p:nvPr/>
        </p:nvSpPr>
        <p:spPr>
          <a:xfrm>
            <a:off x="6749990" y="2894122"/>
            <a:ext cx="4340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•</a:t>
            </a:r>
            <a:r>
              <a:rPr lang="en-US" altLang="ko-KR" sz="1600" b="1" dirty="0">
                <a:solidFill>
                  <a:srgbClr val="19191D"/>
                </a:solidFill>
                <a:latin typeface="Aptos"/>
              </a:rPr>
              <a:t> </a:t>
            </a:r>
            <a:r>
              <a:rPr lang="ko-KR" altLang="en-US" sz="1600" b="1" dirty="0">
                <a:solidFill>
                  <a:srgbClr val="19191D"/>
                </a:solidFill>
                <a:latin typeface="Aptos"/>
              </a:rPr>
              <a:t>단일 데이터</a:t>
            </a:r>
            <a:r>
              <a:rPr lang="en-US" altLang="ko-KR" sz="1600" b="1" dirty="0">
                <a:solidFill>
                  <a:srgbClr val="19191D"/>
                </a:solidFill>
                <a:latin typeface="Aptos"/>
              </a:rPr>
              <a:t>(SSOT) </a:t>
            </a:r>
            <a:r>
              <a:rPr lang="ko-KR" altLang="en-US" sz="1600" b="1" dirty="0">
                <a:solidFill>
                  <a:srgbClr val="19191D"/>
                </a:solidFill>
                <a:latin typeface="Aptos"/>
              </a:rPr>
              <a:t>모듈화</a:t>
            </a:r>
            <a:endParaRPr lang="ko-KR" altLang="en-US" sz="16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9464BB6-DB69-481F-9230-5DFEA03AED28}"/>
              </a:ext>
            </a:extLst>
          </p:cNvPr>
          <p:cNvSpPr txBox="1"/>
          <p:nvPr/>
        </p:nvSpPr>
        <p:spPr>
          <a:xfrm>
            <a:off x="6786284" y="3737680"/>
            <a:ext cx="4340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•</a:t>
            </a:r>
            <a:r>
              <a:rPr lang="en-US" altLang="ko-KR" sz="1600" b="1" dirty="0">
                <a:solidFill>
                  <a:srgbClr val="19191D"/>
                </a:solidFill>
                <a:latin typeface="Aptos"/>
              </a:rPr>
              <a:t> </a:t>
            </a:r>
            <a:r>
              <a:rPr lang="ko-KR" altLang="en-US" sz="1600" b="1" dirty="0">
                <a:solidFill>
                  <a:srgbClr val="19191D"/>
                </a:solidFill>
                <a:latin typeface="Aptos"/>
              </a:rPr>
              <a:t>동적 연산 인터랙션</a:t>
            </a:r>
            <a:endParaRPr lang="ko-KR" altLang="en-US" sz="16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AEB104E-75FC-48BE-8225-94D69D82C33C}"/>
              </a:ext>
            </a:extLst>
          </p:cNvPr>
          <p:cNvSpPr txBox="1"/>
          <p:nvPr/>
        </p:nvSpPr>
        <p:spPr>
          <a:xfrm>
            <a:off x="6813035" y="4552291"/>
            <a:ext cx="4340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• </a:t>
            </a:r>
            <a:r>
              <a:rPr lang="ko-KR" altLang="en-US" sz="1600" b="1" dirty="0">
                <a:solidFill>
                  <a:srgbClr val="19191D"/>
                </a:solidFill>
                <a:latin typeface="Aptos"/>
              </a:rPr>
              <a:t>실시간 예매 파이프라인</a:t>
            </a:r>
            <a:endParaRPr lang="ko-KR" altLang="en-US" sz="16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E1474E-2EEC-403A-BC79-F7ABF654B3B3}"/>
              </a:ext>
            </a:extLst>
          </p:cNvPr>
          <p:cNvSpPr txBox="1"/>
          <p:nvPr/>
        </p:nvSpPr>
        <p:spPr>
          <a:xfrm>
            <a:off x="1260779" y="3266227"/>
            <a:ext cx="310896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ko-KR" altLang="en-US" sz="900" b="0" dirty="0">
                <a:solidFill>
                  <a:srgbClr val="6C6C74"/>
                </a:solidFill>
                <a:latin typeface="Aptos"/>
              </a:rPr>
              <a:t>공연</a:t>
            </a:r>
            <a:r>
              <a:rPr lang="en-US" altLang="ko-KR" sz="900" b="0" dirty="0">
                <a:solidFill>
                  <a:srgbClr val="6C6C74"/>
                </a:solidFill>
                <a:latin typeface="Aptos"/>
              </a:rPr>
              <a:t>, </a:t>
            </a:r>
            <a:r>
              <a:rPr lang="ko-KR" altLang="en-US" sz="900" b="0" dirty="0">
                <a:solidFill>
                  <a:srgbClr val="6C6C74"/>
                </a:solidFill>
                <a:latin typeface="Aptos"/>
              </a:rPr>
              <a:t>정시 티켓의 시간 소멸 특성을 역이용하여 </a:t>
            </a:r>
            <a:r>
              <a:rPr lang="en-US" altLang="ko-KR" sz="900" b="0" dirty="0">
                <a:solidFill>
                  <a:srgbClr val="6C6C74"/>
                </a:solidFill>
                <a:latin typeface="Aptos"/>
              </a:rPr>
              <a:t>‘</a:t>
            </a:r>
            <a:r>
              <a:rPr lang="ko-KR" altLang="en-US" sz="900" b="0" dirty="0">
                <a:solidFill>
                  <a:srgbClr val="6C6C74"/>
                </a:solidFill>
                <a:latin typeface="Aptos"/>
              </a:rPr>
              <a:t>당일 마감 할인</a:t>
            </a:r>
            <a:r>
              <a:rPr lang="en-US" altLang="ko-KR" sz="900" b="0" dirty="0">
                <a:solidFill>
                  <a:srgbClr val="6C6C74"/>
                </a:solidFill>
                <a:latin typeface="Aptos"/>
              </a:rPr>
              <a:t>＇</a:t>
            </a:r>
            <a:r>
              <a:rPr lang="ko-KR" altLang="en-US" sz="900" b="0" dirty="0">
                <a:solidFill>
                  <a:srgbClr val="6C6C74"/>
                </a:solidFill>
                <a:latin typeface="Aptos"/>
              </a:rPr>
              <a:t>과 </a:t>
            </a:r>
            <a:r>
              <a:rPr lang="en-US" altLang="ko-KR" sz="900" b="0" dirty="0">
                <a:solidFill>
                  <a:srgbClr val="6C6C74"/>
                </a:solidFill>
                <a:latin typeface="Aptos"/>
              </a:rPr>
              <a:t>‘</a:t>
            </a:r>
            <a:r>
              <a:rPr lang="ko-KR" altLang="en-US" sz="900" b="0" dirty="0">
                <a:solidFill>
                  <a:srgbClr val="6C6C74"/>
                </a:solidFill>
                <a:latin typeface="Aptos"/>
              </a:rPr>
              <a:t>신규 오픈 특가</a:t>
            </a:r>
            <a:r>
              <a:rPr lang="en-US" altLang="ko-KR" sz="900" b="0" dirty="0">
                <a:solidFill>
                  <a:srgbClr val="6C6C74"/>
                </a:solidFill>
                <a:latin typeface="Aptos"/>
              </a:rPr>
              <a:t>＇</a:t>
            </a:r>
            <a:r>
              <a:rPr lang="ko-KR" altLang="en-US" sz="900" b="0" dirty="0">
                <a:solidFill>
                  <a:srgbClr val="6C6C74"/>
                </a:solidFill>
                <a:latin typeface="Aptos"/>
              </a:rPr>
              <a:t>를 직관적으로 제공</a:t>
            </a:r>
            <a:endParaRPr sz="900" b="0" dirty="0">
              <a:solidFill>
                <a:srgbClr val="6C6C74"/>
              </a:solidFill>
              <a:latin typeface="Apto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AC908B-6B0A-4157-90DA-360204B9F089}"/>
              </a:ext>
            </a:extLst>
          </p:cNvPr>
          <p:cNvSpPr txBox="1"/>
          <p:nvPr/>
        </p:nvSpPr>
        <p:spPr>
          <a:xfrm>
            <a:off x="1301237" y="4113287"/>
            <a:ext cx="310896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ko-KR" sz="900" b="0" dirty="0">
                <a:solidFill>
                  <a:srgbClr val="6C6C74"/>
                </a:solidFill>
                <a:latin typeface="Aptos"/>
              </a:rPr>
              <a:t>2030 </a:t>
            </a:r>
            <a:r>
              <a:rPr lang="ko-KR" altLang="en-US" sz="900" b="0" dirty="0">
                <a:solidFill>
                  <a:srgbClr val="6C6C74"/>
                </a:solidFill>
                <a:latin typeface="Aptos"/>
              </a:rPr>
              <a:t>문화 소비자가 원하는 예산</a:t>
            </a:r>
            <a:r>
              <a:rPr lang="en-US" altLang="ko-KR" sz="900" b="0" dirty="0">
                <a:solidFill>
                  <a:srgbClr val="6C6C74"/>
                </a:solidFill>
                <a:latin typeface="Aptos"/>
              </a:rPr>
              <a:t>, </a:t>
            </a:r>
            <a:r>
              <a:rPr lang="ko-KR" altLang="en-US" sz="900" b="0" dirty="0">
                <a:solidFill>
                  <a:srgbClr val="6C6C74"/>
                </a:solidFill>
                <a:latin typeface="Aptos"/>
              </a:rPr>
              <a:t>일정</a:t>
            </a:r>
            <a:r>
              <a:rPr lang="en-US" altLang="ko-KR" sz="900" b="0" dirty="0">
                <a:solidFill>
                  <a:srgbClr val="6C6C74"/>
                </a:solidFill>
                <a:latin typeface="Aptos"/>
              </a:rPr>
              <a:t>, </a:t>
            </a:r>
            <a:r>
              <a:rPr lang="ko-KR" altLang="en-US" sz="900" dirty="0">
                <a:solidFill>
                  <a:srgbClr val="6C6C74"/>
                </a:solidFill>
                <a:latin typeface="Aptos"/>
              </a:rPr>
              <a:t>선호도에 맞춰 즉시 상품을 발견하도록 동선 최적화</a:t>
            </a:r>
            <a:endParaRPr sz="900" b="0" dirty="0">
              <a:solidFill>
                <a:srgbClr val="6C6C74"/>
              </a:solidFill>
              <a:latin typeface="Apto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9C7609-0EE2-46CD-8E87-4294DE56E38D}"/>
              </a:ext>
            </a:extLst>
          </p:cNvPr>
          <p:cNvSpPr txBox="1"/>
          <p:nvPr/>
        </p:nvSpPr>
        <p:spPr>
          <a:xfrm>
            <a:off x="1322948" y="4894603"/>
            <a:ext cx="310896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ko-KR" altLang="en-US" sz="900" b="0" dirty="0">
                <a:solidFill>
                  <a:srgbClr val="6C6C74"/>
                </a:solidFill>
                <a:latin typeface="Aptos"/>
              </a:rPr>
              <a:t>마감 타이머</a:t>
            </a:r>
            <a:r>
              <a:rPr lang="en-US" altLang="ko-KR" sz="900" b="0" dirty="0">
                <a:solidFill>
                  <a:srgbClr val="6C6C74"/>
                </a:solidFill>
                <a:latin typeface="Aptos"/>
              </a:rPr>
              <a:t>, </a:t>
            </a:r>
            <a:r>
              <a:rPr lang="ko-KR" altLang="en-US" sz="900" b="0" dirty="0">
                <a:solidFill>
                  <a:srgbClr val="6C6C74"/>
                </a:solidFill>
                <a:latin typeface="Aptos"/>
              </a:rPr>
              <a:t>오늘 오픈 점등 </a:t>
            </a:r>
            <a:r>
              <a:rPr lang="ko-KR" altLang="en-US" sz="900" b="0" dirty="0" err="1">
                <a:solidFill>
                  <a:srgbClr val="6C6C74"/>
                </a:solidFill>
                <a:latin typeface="Aptos"/>
              </a:rPr>
              <a:t>뱃지</a:t>
            </a:r>
            <a:r>
              <a:rPr lang="en-US" altLang="ko-KR" sz="900" b="0" dirty="0">
                <a:solidFill>
                  <a:srgbClr val="6C6C74"/>
                </a:solidFill>
                <a:latin typeface="Aptos"/>
              </a:rPr>
              <a:t>, </a:t>
            </a:r>
            <a:r>
              <a:rPr lang="ko-KR" altLang="en-US" sz="900" b="0" dirty="0">
                <a:solidFill>
                  <a:srgbClr val="6C6C74"/>
                </a:solidFill>
                <a:latin typeface="Aptos"/>
              </a:rPr>
              <a:t>잔여 좌석 표기를 통해 긴박감을 전달</a:t>
            </a:r>
            <a:endParaRPr sz="900" b="0" dirty="0">
              <a:solidFill>
                <a:srgbClr val="6C6C74"/>
              </a:solidFill>
              <a:latin typeface="Apto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22E4B3-D55E-434D-AAA2-80CC9850706F}"/>
              </a:ext>
            </a:extLst>
          </p:cNvPr>
          <p:cNvSpPr txBox="1"/>
          <p:nvPr/>
        </p:nvSpPr>
        <p:spPr>
          <a:xfrm>
            <a:off x="6929096" y="3189490"/>
            <a:ext cx="310896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ko-KR" sz="900" dirty="0"/>
              <a:t>ticketData.js </a:t>
            </a:r>
            <a:r>
              <a:rPr lang="ko-KR" altLang="en-US" sz="900" dirty="0"/>
              <a:t>단일 배열에서 카테고리별 </a:t>
            </a:r>
            <a:r>
              <a:rPr lang="en-US" altLang="ko-KR" sz="900" dirty="0"/>
              <a:t>filter()</a:t>
            </a:r>
            <a:r>
              <a:rPr lang="ko-KR" altLang="en-US" sz="900" dirty="0"/>
              <a:t>를 거쳐 공통 그리드 컴포넌트로 주입하는 재사용 구조 설계</a:t>
            </a:r>
            <a:endParaRPr sz="900" b="0" dirty="0">
              <a:solidFill>
                <a:srgbClr val="6C6C74"/>
              </a:solidFill>
              <a:latin typeface="Apto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757614-2442-4160-B229-A2BAD4914479}"/>
              </a:ext>
            </a:extLst>
          </p:cNvPr>
          <p:cNvSpPr txBox="1"/>
          <p:nvPr/>
        </p:nvSpPr>
        <p:spPr>
          <a:xfrm>
            <a:off x="6995462" y="4039358"/>
            <a:ext cx="310896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ko-KR" altLang="en-US" sz="900" dirty="0"/>
              <a:t>자바스크립트  </a:t>
            </a:r>
            <a:r>
              <a:rPr lang="en-US" altLang="ko-KR" sz="900" dirty="0"/>
              <a:t>Date </a:t>
            </a:r>
            <a:r>
              <a:rPr lang="ko-KR" altLang="en-US" sz="900" dirty="0"/>
              <a:t>객체 기반의 자동 오픈일 계산과 </a:t>
            </a:r>
            <a:r>
              <a:rPr lang="en-US" altLang="ko-KR" sz="900" dirty="0"/>
              <a:t>3D </a:t>
            </a:r>
            <a:r>
              <a:rPr lang="ko-KR" altLang="en-US" sz="900" dirty="0"/>
              <a:t>도미노 롤링 애니메이션 구현</a:t>
            </a:r>
            <a:endParaRPr sz="900" b="0" dirty="0">
              <a:solidFill>
                <a:srgbClr val="6C6C74"/>
              </a:solidFill>
              <a:latin typeface="Apto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51BE4E-3DEC-4B7A-A032-35710C82019E}"/>
              </a:ext>
            </a:extLst>
          </p:cNvPr>
          <p:cNvSpPr txBox="1"/>
          <p:nvPr/>
        </p:nvSpPr>
        <p:spPr>
          <a:xfrm>
            <a:off x="6995462" y="4853977"/>
            <a:ext cx="310896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ko-KR" sz="900" dirty="0"/>
              <a:t>React Router </a:t>
            </a:r>
            <a:r>
              <a:rPr lang="ko-KR" altLang="en-US" sz="900" dirty="0"/>
              <a:t>기반 동적 상세 연결 </a:t>
            </a:r>
            <a:r>
              <a:rPr lang="en-US" altLang="ko-KR" sz="900" dirty="0"/>
              <a:t>(/detail/:id) </a:t>
            </a:r>
            <a:r>
              <a:rPr lang="ko-KR" altLang="en-US" sz="900" dirty="0"/>
              <a:t>및 캘린더 날짜</a:t>
            </a:r>
            <a:r>
              <a:rPr lang="en-US" altLang="ko-KR" sz="900" dirty="0"/>
              <a:t>/ </a:t>
            </a:r>
            <a:r>
              <a:rPr lang="ko-KR" altLang="en-US" sz="900" dirty="0"/>
              <a:t>수량 선택에 따른 실시간 결제 금액 즉각 바인딩</a:t>
            </a:r>
            <a:endParaRPr sz="900" b="0" dirty="0">
              <a:solidFill>
                <a:srgbClr val="6C6C7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928" y="329184"/>
            <a:ext cx="621792" cy="347472"/>
          </a:xfrm>
          <a:prstGeom prst="round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79809"/>
            <a:ext cx="621792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0</a:t>
            </a:r>
            <a:r>
              <a:rPr lang="en-US" sz="1000" b="1" dirty="0">
                <a:solidFill>
                  <a:srgbClr val="FFFFFF"/>
                </a:solidFill>
                <a:latin typeface="Aptos"/>
              </a:rPr>
              <a:t>3</a:t>
            </a:r>
            <a:endParaRPr sz="1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98448" y="387504"/>
            <a:ext cx="347472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900" b="1" dirty="0">
                <a:solidFill>
                  <a:srgbClr val="FF4C4C"/>
                </a:solidFill>
                <a:latin typeface="Aptos"/>
              </a:rPr>
              <a:t>PROJECT</a:t>
            </a:r>
            <a:r>
              <a:rPr lang="ko-KR" altLang="en-US" sz="900" b="1" dirty="0">
                <a:solidFill>
                  <a:srgbClr val="FF4C4C"/>
                </a:solidFill>
                <a:latin typeface="Aptos"/>
              </a:rPr>
              <a:t> </a:t>
            </a:r>
            <a:r>
              <a:rPr lang="en-US" altLang="ko-KR" sz="900" b="1" dirty="0">
                <a:solidFill>
                  <a:srgbClr val="FF4C4C"/>
                </a:solidFill>
                <a:latin typeface="Aptos"/>
              </a:rPr>
              <a:t>STRUCTURE</a:t>
            </a:r>
            <a:endParaRPr lang="en-US" sz="900" b="1" dirty="0">
              <a:solidFill>
                <a:srgbClr val="FF4C4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7" y="762381"/>
            <a:ext cx="8768437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3200" b="1" dirty="0">
                <a:solidFill>
                  <a:srgbClr val="19191D"/>
                </a:solidFill>
                <a:latin typeface="Aptos"/>
              </a:rPr>
              <a:t>유지보수를 고려한 프로젝트 구조 설계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28232"/>
            <a:ext cx="3108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6C6C74"/>
                </a:solidFill>
                <a:latin typeface="Aptos"/>
              </a:rPr>
              <a:t>TIME TICKET · REACT PORTFOLIO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6C6C74"/>
                </a:solidFill>
                <a:latin typeface="Aptos"/>
              </a:rPr>
              <a:t>04</a:t>
            </a:r>
          </a:p>
        </p:txBody>
      </p:sp>
      <p:sp>
        <p:nvSpPr>
          <p:cNvPr id="17" name="Rounded Rectangle 28">
            <a:extLst>
              <a:ext uri="{FF2B5EF4-FFF2-40B4-BE49-F238E27FC236}">
                <a16:creationId xmlns:a16="http://schemas.microsoft.com/office/drawing/2014/main" id="{F1FD4782-B440-417B-8722-3FBA6D87AFC9}"/>
              </a:ext>
            </a:extLst>
          </p:cNvPr>
          <p:cNvSpPr/>
          <p:nvPr/>
        </p:nvSpPr>
        <p:spPr>
          <a:xfrm>
            <a:off x="491201" y="2155839"/>
            <a:ext cx="2385349" cy="646679"/>
          </a:xfrm>
          <a:prstGeom prst="roundRect">
            <a:avLst/>
          </a:prstGeom>
          <a:solidFill>
            <a:srgbClr val="FFFFFF"/>
          </a:solidFill>
          <a:ln>
            <a:solidFill>
              <a:srgbClr val="E6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 b="1" dirty="0">
                <a:solidFill>
                  <a:srgbClr val="FF4C4C"/>
                </a:solidFill>
              </a:rPr>
              <a:t>COMPONENTS</a:t>
            </a:r>
          </a:p>
          <a:p>
            <a:r>
              <a:rPr sz="1100" dirty="0">
                <a:solidFill>
                  <a:srgbClr val="414148"/>
                </a:solidFill>
              </a:rPr>
              <a:t>Header, </a:t>
            </a:r>
            <a:r>
              <a:rPr sz="1100" dirty="0" err="1">
                <a:solidFill>
                  <a:srgbClr val="414148"/>
                </a:solidFill>
              </a:rPr>
              <a:t>HeroBanner</a:t>
            </a:r>
            <a:r>
              <a:rPr sz="1100" dirty="0">
                <a:solidFill>
                  <a:srgbClr val="414148"/>
                </a:solidFill>
              </a:rPr>
              <a:t>, </a:t>
            </a:r>
            <a:r>
              <a:rPr sz="1100" dirty="0" err="1">
                <a:solidFill>
                  <a:srgbClr val="414148"/>
                </a:solidFill>
              </a:rPr>
              <a:t>LastCall</a:t>
            </a:r>
            <a:r>
              <a:rPr sz="1100" dirty="0">
                <a:solidFill>
                  <a:srgbClr val="414148"/>
                </a:solidFill>
              </a:rPr>
              <a:t> 등</a:t>
            </a:r>
            <a:r>
              <a:rPr lang="en-US" sz="1100" dirty="0">
                <a:solidFill>
                  <a:srgbClr val="414148"/>
                </a:solidFill>
              </a:rPr>
              <a:t> </a:t>
            </a:r>
          </a:p>
          <a:p>
            <a:r>
              <a:rPr sz="1100" dirty="0" err="1">
                <a:solidFill>
                  <a:srgbClr val="414148"/>
                </a:solidFill>
              </a:rPr>
              <a:t>반복·독립</a:t>
            </a:r>
            <a:r>
              <a:rPr sz="1100" dirty="0">
                <a:solidFill>
                  <a:srgbClr val="414148"/>
                </a:solidFill>
              </a:rPr>
              <a:t> </a:t>
            </a:r>
            <a:r>
              <a:rPr sz="1100" dirty="0" err="1">
                <a:solidFill>
                  <a:srgbClr val="414148"/>
                </a:solidFill>
              </a:rPr>
              <a:t>UI를</a:t>
            </a:r>
            <a:r>
              <a:rPr sz="1100" dirty="0">
                <a:solidFill>
                  <a:srgbClr val="414148"/>
                </a:solidFill>
              </a:rPr>
              <a:t> </a:t>
            </a:r>
            <a:r>
              <a:rPr sz="1100" dirty="0" err="1">
                <a:solidFill>
                  <a:srgbClr val="414148"/>
                </a:solidFill>
              </a:rPr>
              <a:t>컴포넌트로</a:t>
            </a:r>
            <a:r>
              <a:rPr sz="1100" dirty="0">
                <a:solidFill>
                  <a:srgbClr val="414148"/>
                </a:solidFill>
              </a:rPr>
              <a:t> </a:t>
            </a:r>
            <a:r>
              <a:rPr sz="1100" dirty="0" err="1">
                <a:solidFill>
                  <a:srgbClr val="414148"/>
                </a:solidFill>
              </a:rPr>
              <a:t>분리</a:t>
            </a:r>
            <a:endParaRPr sz="1100" dirty="0">
              <a:solidFill>
                <a:srgbClr val="414148"/>
              </a:solidFill>
            </a:endParaRPr>
          </a:p>
        </p:txBody>
      </p:sp>
      <p:sp>
        <p:nvSpPr>
          <p:cNvPr id="19" name="Rounded Rectangle 30">
            <a:extLst>
              <a:ext uri="{FF2B5EF4-FFF2-40B4-BE49-F238E27FC236}">
                <a16:creationId xmlns:a16="http://schemas.microsoft.com/office/drawing/2014/main" id="{F84B1E1E-3C1C-42C2-BFE7-DE84743EFA67}"/>
              </a:ext>
            </a:extLst>
          </p:cNvPr>
          <p:cNvSpPr/>
          <p:nvPr/>
        </p:nvSpPr>
        <p:spPr>
          <a:xfrm>
            <a:off x="5973435" y="2120508"/>
            <a:ext cx="2803514" cy="641247"/>
          </a:xfrm>
          <a:prstGeom prst="roundRect">
            <a:avLst/>
          </a:prstGeom>
          <a:solidFill>
            <a:srgbClr val="FFFFFF"/>
          </a:solidFill>
          <a:ln>
            <a:solidFill>
              <a:srgbClr val="E6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 b="1" dirty="0">
                <a:solidFill>
                  <a:srgbClr val="FF4C4C"/>
                </a:solidFill>
              </a:rPr>
              <a:t>CSS</a:t>
            </a:r>
          </a:p>
          <a:p>
            <a:r>
              <a:rPr sz="1100" dirty="0" err="1">
                <a:solidFill>
                  <a:srgbClr val="414148"/>
                </a:solidFill>
              </a:rPr>
              <a:t>컴포넌트</a:t>
            </a:r>
            <a:r>
              <a:rPr sz="1100" dirty="0">
                <a:solidFill>
                  <a:srgbClr val="414148"/>
                </a:solidFill>
              </a:rPr>
              <a:t>·</a:t>
            </a:r>
            <a:r>
              <a:rPr lang="en-US" sz="1100" dirty="0">
                <a:solidFill>
                  <a:srgbClr val="414148"/>
                </a:solidFill>
              </a:rPr>
              <a:t> </a:t>
            </a:r>
            <a:r>
              <a:rPr sz="1100" dirty="0" err="1">
                <a:solidFill>
                  <a:srgbClr val="414148"/>
                </a:solidFill>
              </a:rPr>
              <a:t>페이지별</a:t>
            </a:r>
            <a:r>
              <a:rPr sz="1100" dirty="0">
                <a:solidFill>
                  <a:srgbClr val="414148"/>
                </a:solidFill>
              </a:rPr>
              <a:t> </a:t>
            </a:r>
            <a:r>
              <a:rPr sz="1100" dirty="0" err="1">
                <a:solidFill>
                  <a:srgbClr val="414148"/>
                </a:solidFill>
              </a:rPr>
              <a:t>스타일</a:t>
            </a:r>
            <a:r>
              <a:rPr sz="1100" dirty="0">
                <a:solidFill>
                  <a:srgbClr val="414148"/>
                </a:solidFill>
              </a:rPr>
              <a:t> </a:t>
            </a:r>
            <a:r>
              <a:rPr sz="1100" dirty="0" err="1">
                <a:solidFill>
                  <a:srgbClr val="414148"/>
                </a:solidFill>
              </a:rPr>
              <a:t>파일을</a:t>
            </a:r>
            <a:r>
              <a:rPr sz="1100" dirty="0">
                <a:solidFill>
                  <a:srgbClr val="414148"/>
                </a:solidFill>
              </a:rPr>
              <a:t> </a:t>
            </a:r>
            <a:r>
              <a:rPr sz="1100" dirty="0" err="1">
                <a:solidFill>
                  <a:srgbClr val="414148"/>
                </a:solidFill>
              </a:rPr>
              <a:t>분리해</a:t>
            </a:r>
            <a:r>
              <a:rPr lang="en-US" sz="1100" dirty="0">
                <a:solidFill>
                  <a:srgbClr val="414148"/>
                </a:solidFill>
              </a:rPr>
              <a:t> </a:t>
            </a:r>
          </a:p>
          <a:p>
            <a:r>
              <a:rPr sz="1100" dirty="0" err="1">
                <a:solidFill>
                  <a:srgbClr val="414148"/>
                </a:solidFill>
              </a:rPr>
              <a:t>수정</a:t>
            </a:r>
            <a:r>
              <a:rPr sz="1100" dirty="0">
                <a:solidFill>
                  <a:srgbClr val="414148"/>
                </a:solidFill>
              </a:rPr>
              <a:t> </a:t>
            </a:r>
            <a:r>
              <a:rPr sz="1100" dirty="0" err="1">
                <a:solidFill>
                  <a:srgbClr val="414148"/>
                </a:solidFill>
              </a:rPr>
              <a:t>위치를</a:t>
            </a:r>
            <a:r>
              <a:rPr sz="1100" dirty="0">
                <a:solidFill>
                  <a:srgbClr val="414148"/>
                </a:solidFill>
              </a:rPr>
              <a:t> </a:t>
            </a:r>
            <a:r>
              <a:rPr sz="1100" dirty="0" err="1">
                <a:solidFill>
                  <a:srgbClr val="414148"/>
                </a:solidFill>
              </a:rPr>
              <a:t>쉽게</a:t>
            </a:r>
            <a:r>
              <a:rPr sz="1100" dirty="0">
                <a:solidFill>
                  <a:srgbClr val="414148"/>
                </a:solidFill>
              </a:rPr>
              <a:t> </a:t>
            </a:r>
            <a:r>
              <a:rPr sz="1100" dirty="0" err="1">
                <a:solidFill>
                  <a:srgbClr val="414148"/>
                </a:solidFill>
              </a:rPr>
              <a:t>파악</a:t>
            </a:r>
            <a:endParaRPr sz="1100" dirty="0">
              <a:solidFill>
                <a:srgbClr val="414148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4575BE-F728-41CD-A225-31827E0C6A5C}"/>
              </a:ext>
            </a:extLst>
          </p:cNvPr>
          <p:cNvSpPr txBox="1"/>
          <p:nvPr/>
        </p:nvSpPr>
        <p:spPr>
          <a:xfrm>
            <a:off x="736205" y="1359000"/>
            <a:ext cx="4251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FF4C4C"/>
                </a:solidFill>
              </a:rPr>
              <a:t>POINT  </a:t>
            </a:r>
            <a:r>
              <a:rPr sz="1100" b="1" dirty="0" err="1">
                <a:solidFill>
                  <a:srgbClr val="FF4C4C"/>
                </a:solidFill>
              </a:rPr>
              <a:t>역할</a:t>
            </a:r>
            <a:r>
              <a:rPr sz="1100" b="1" dirty="0">
                <a:solidFill>
                  <a:srgbClr val="FF4C4C"/>
                </a:solidFill>
              </a:rPr>
              <a:t> </a:t>
            </a:r>
            <a:r>
              <a:rPr sz="1100" b="1" dirty="0" err="1">
                <a:solidFill>
                  <a:srgbClr val="FF4C4C"/>
                </a:solidFill>
              </a:rPr>
              <a:t>분리</a:t>
            </a:r>
            <a:r>
              <a:rPr sz="1100" b="1" dirty="0">
                <a:solidFill>
                  <a:srgbClr val="FF4C4C"/>
                </a:solidFill>
              </a:rPr>
              <a:t> → </a:t>
            </a:r>
            <a:r>
              <a:rPr sz="1100" b="1" dirty="0" err="1">
                <a:solidFill>
                  <a:srgbClr val="FF4C4C"/>
                </a:solidFill>
              </a:rPr>
              <a:t>재사용성</a:t>
            </a:r>
            <a:r>
              <a:rPr sz="1100" b="1" dirty="0">
                <a:solidFill>
                  <a:srgbClr val="FF4C4C"/>
                </a:solidFill>
              </a:rPr>
              <a:t> · </a:t>
            </a:r>
            <a:r>
              <a:rPr sz="1100" b="1" dirty="0" err="1">
                <a:solidFill>
                  <a:srgbClr val="FF4C4C"/>
                </a:solidFill>
              </a:rPr>
              <a:t>유지보수성</a:t>
            </a:r>
            <a:r>
              <a:rPr sz="1100" b="1" dirty="0">
                <a:solidFill>
                  <a:srgbClr val="FF4C4C"/>
                </a:solidFill>
              </a:rPr>
              <a:t> </a:t>
            </a:r>
            <a:r>
              <a:rPr sz="1100" b="1" dirty="0" err="1">
                <a:solidFill>
                  <a:srgbClr val="FF4C4C"/>
                </a:solidFill>
              </a:rPr>
              <a:t>향상</a:t>
            </a:r>
            <a:endParaRPr sz="1100" b="1" dirty="0">
              <a:solidFill>
                <a:srgbClr val="FF4C4C"/>
              </a:solidFill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27BD835C-41EB-4DD6-85AB-2990A5CDB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521" y="3070285"/>
            <a:ext cx="1724266" cy="18481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1110DE2B-01A8-441B-9520-7284670FE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765" y="3069951"/>
            <a:ext cx="2114845" cy="26545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E35D2B4A-BB65-4FBC-AFFD-F28E139F6DA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9065"/>
          <a:stretch/>
        </p:blipFill>
        <p:spPr>
          <a:xfrm>
            <a:off x="3675888" y="3069951"/>
            <a:ext cx="2034917" cy="159506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20" name="Rounded Rectangle 31">
            <a:extLst>
              <a:ext uri="{FF2B5EF4-FFF2-40B4-BE49-F238E27FC236}">
                <a16:creationId xmlns:a16="http://schemas.microsoft.com/office/drawing/2014/main" id="{B791FE98-E878-45B7-99F8-1A121280AC9E}"/>
              </a:ext>
            </a:extLst>
          </p:cNvPr>
          <p:cNvSpPr/>
          <p:nvPr/>
        </p:nvSpPr>
        <p:spPr>
          <a:xfrm>
            <a:off x="9205620" y="2147046"/>
            <a:ext cx="2605176" cy="651345"/>
          </a:xfrm>
          <a:prstGeom prst="roundRect">
            <a:avLst/>
          </a:prstGeom>
          <a:solidFill>
            <a:srgbClr val="FFFFFF"/>
          </a:solidFill>
          <a:ln>
            <a:solidFill>
              <a:srgbClr val="E6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 b="1" dirty="0">
                <a:solidFill>
                  <a:srgbClr val="FF4C4C"/>
                </a:solidFill>
              </a:rPr>
              <a:t>DATA</a:t>
            </a:r>
          </a:p>
          <a:p>
            <a:r>
              <a:rPr sz="1100" dirty="0" err="1">
                <a:solidFill>
                  <a:srgbClr val="414148"/>
                </a:solidFill>
              </a:rPr>
              <a:t>ticketData.js에서</a:t>
            </a:r>
            <a:r>
              <a:rPr sz="1100" dirty="0">
                <a:solidFill>
                  <a:srgbClr val="414148"/>
                </a:solidFill>
              </a:rPr>
              <a:t> </a:t>
            </a:r>
            <a:r>
              <a:rPr sz="1100" dirty="0" err="1">
                <a:solidFill>
                  <a:srgbClr val="414148"/>
                </a:solidFill>
              </a:rPr>
              <a:t>티켓</a:t>
            </a:r>
            <a:r>
              <a:rPr sz="1100" dirty="0">
                <a:solidFill>
                  <a:srgbClr val="414148"/>
                </a:solidFill>
              </a:rPr>
              <a:t> </a:t>
            </a:r>
            <a:r>
              <a:rPr sz="1100" dirty="0" err="1">
                <a:solidFill>
                  <a:srgbClr val="414148"/>
                </a:solidFill>
              </a:rPr>
              <a:t>정보를</a:t>
            </a:r>
            <a:r>
              <a:rPr sz="1100" dirty="0">
                <a:solidFill>
                  <a:srgbClr val="414148"/>
                </a:solidFill>
              </a:rPr>
              <a:t> </a:t>
            </a:r>
            <a:r>
              <a:rPr sz="1100" dirty="0" err="1">
                <a:solidFill>
                  <a:srgbClr val="414148"/>
                </a:solidFill>
              </a:rPr>
              <a:t>관리하고</a:t>
            </a:r>
            <a:r>
              <a:rPr lang="en-US" sz="1100" dirty="0">
                <a:solidFill>
                  <a:srgbClr val="414148"/>
                </a:solidFill>
              </a:rPr>
              <a:t> </a:t>
            </a:r>
          </a:p>
          <a:p>
            <a:r>
              <a:rPr sz="1100" dirty="0" err="1">
                <a:solidFill>
                  <a:srgbClr val="414148"/>
                </a:solidFill>
              </a:rPr>
              <a:t>여러</a:t>
            </a:r>
            <a:r>
              <a:rPr sz="1100" dirty="0">
                <a:solidFill>
                  <a:srgbClr val="414148"/>
                </a:solidFill>
              </a:rPr>
              <a:t> </a:t>
            </a:r>
            <a:r>
              <a:rPr sz="1100" dirty="0" err="1">
                <a:solidFill>
                  <a:srgbClr val="414148"/>
                </a:solidFill>
              </a:rPr>
              <a:t>화면에서</a:t>
            </a:r>
            <a:r>
              <a:rPr sz="1100" dirty="0">
                <a:solidFill>
                  <a:srgbClr val="414148"/>
                </a:solidFill>
              </a:rPr>
              <a:t> </a:t>
            </a:r>
            <a:r>
              <a:rPr sz="1100" dirty="0" err="1">
                <a:solidFill>
                  <a:srgbClr val="414148"/>
                </a:solidFill>
              </a:rPr>
              <a:t>동일</a:t>
            </a:r>
            <a:r>
              <a:rPr sz="1100" dirty="0">
                <a:solidFill>
                  <a:srgbClr val="414148"/>
                </a:solidFill>
              </a:rPr>
              <a:t> </a:t>
            </a:r>
            <a:r>
              <a:rPr sz="1100" dirty="0" err="1">
                <a:solidFill>
                  <a:srgbClr val="414148"/>
                </a:solidFill>
              </a:rPr>
              <a:t>데이터</a:t>
            </a:r>
            <a:r>
              <a:rPr sz="1100" dirty="0">
                <a:solidFill>
                  <a:srgbClr val="414148"/>
                </a:solidFill>
              </a:rPr>
              <a:t> </a:t>
            </a:r>
            <a:r>
              <a:rPr sz="1100" dirty="0" err="1">
                <a:solidFill>
                  <a:srgbClr val="414148"/>
                </a:solidFill>
              </a:rPr>
              <a:t>재사용</a:t>
            </a:r>
            <a:endParaRPr sz="1100" dirty="0">
              <a:solidFill>
                <a:srgbClr val="414148"/>
              </a:solidFill>
            </a:endParaRPr>
          </a:p>
        </p:txBody>
      </p:sp>
      <p:sp>
        <p:nvSpPr>
          <p:cNvPr id="18" name="Rounded Rectangle 29">
            <a:extLst>
              <a:ext uri="{FF2B5EF4-FFF2-40B4-BE49-F238E27FC236}">
                <a16:creationId xmlns:a16="http://schemas.microsoft.com/office/drawing/2014/main" id="{FDDA01B5-5964-4ECF-9E84-D5D013071EC3}"/>
              </a:ext>
            </a:extLst>
          </p:cNvPr>
          <p:cNvSpPr/>
          <p:nvPr/>
        </p:nvSpPr>
        <p:spPr>
          <a:xfrm>
            <a:off x="3343087" y="2155839"/>
            <a:ext cx="2156884" cy="646679"/>
          </a:xfrm>
          <a:prstGeom prst="roundRect">
            <a:avLst/>
          </a:prstGeom>
          <a:solidFill>
            <a:srgbClr val="FFFFFF"/>
          </a:solidFill>
          <a:ln>
            <a:solidFill>
              <a:srgbClr val="E6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 b="1" dirty="0">
                <a:solidFill>
                  <a:srgbClr val="FF4C4C"/>
                </a:solidFill>
              </a:rPr>
              <a:t>PAGES</a:t>
            </a:r>
          </a:p>
          <a:p>
            <a:r>
              <a:rPr sz="1100" dirty="0" err="1">
                <a:solidFill>
                  <a:srgbClr val="414148"/>
                </a:solidFill>
              </a:rPr>
              <a:t>CalendarPage</a:t>
            </a:r>
            <a:r>
              <a:rPr sz="1100" dirty="0">
                <a:solidFill>
                  <a:srgbClr val="414148"/>
                </a:solidFill>
              </a:rPr>
              <a:t>, </a:t>
            </a:r>
            <a:r>
              <a:rPr sz="1100" dirty="0" err="1">
                <a:solidFill>
                  <a:srgbClr val="414148"/>
                </a:solidFill>
              </a:rPr>
              <a:t>DetailPage</a:t>
            </a:r>
            <a:r>
              <a:rPr sz="1100" dirty="0">
                <a:solidFill>
                  <a:srgbClr val="414148"/>
                </a:solidFill>
              </a:rPr>
              <a:t> 등</a:t>
            </a:r>
            <a:r>
              <a:rPr lang="en-US" sz="1100" dirty="0">
                <a:solidFill>
                  <a:srgbClr val="414148"/>
                </a:solidFill>
              </a:rPr>
              <a:t> </a:t>
            </a:r>
          </a:p>
          <a:p>
            <a:r>
              <a:rPr sz="1100" dirty="0" err="1">
                <a:solidFill>
                  <a:srgbClr val="414148"/>
                </a:solidFill>
              </a:rPr>
              <a:t>라우팅되는</a:t>
            </a:r>
            <a:r>
              <a:rPr sz="1100" dirty="0">
                <a:solidFill>
                  <a:srgbClr val="414148"/>
                </a:solidFill>
              </a:rPr>
              <a:t> </a:t>
            </a:r>
            <a:r>
              <a:rPr sz="1100" dirty="0" err="1">
                <a:solidFill>
                  <a:srgbClr val="414148"/>
                </a:solidFill>
              </a:rPr>
              <a:t>화면</a:t>
            </a:r>
            <a:r>
              <a:rPr sz="1100" dirty="0">
                <a:solidFill>
                  <a:srgbClr val="414148"/>
                </a:solidFill>
              </a:rPr>
              <a:t> </a:t>
            </a:r>
            <a:r>
              <a:rPr sz="1100" dirty="0" err="1">
                <a:solidFill>
                  <a:srgbClr val="414148"/>
                </a:solidFill>
              </a:rPr>
              <a:t>단위로</a:t>
            </a:r>
            <a:r>
              <a:rPr sz="1100" dirty="0">
                <a:solidFill>
                  <a:srgbClr val="414148"/>
                </a:solidFill>
              </a:rPr>
              <a:t> </a:t>
            </a:r>
            <a:r>
              <a:rPr sz="1100" dirty="0" err="1">
                <a:solidFill>
                  <a:srgbClr val="414148"/>
                </a:solidFill>
              </a:rPr>
              <a:t>관리</a:t>
            </a:r>
            <a:endParaRPr sz="1100" dirty="0">
              <a:solidFill>
                <a:srgbClr val="414148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1E0CCEC-3E07-4FD7-916A-EFB220BE115C}"/>
              </a:ext>
            </a:extLst>
          </p:cNvPr>
          <p:cNvGrpSpPr/>
          <p:nvPr/>
        </p:nvGrpSpPr>
        <p:grpSpPr>
          <a:xfrm>
            <a:off x="454599" y="1910649"/>
            <a:ext cx="323850" cy="323850"/>
            <a:chOff x="491201" y="1908921"/>
            <a:chExt cx="323850" cy="323850"/>
          </a:xfrm>
        </p:grpSpPr>
        <p:pic>
          <p:nvPicPr>
            <p:cNvPr id="31" name="Picture 20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1201" y="1908921"/>
              <a:ext cx="323850" cy="323850"/>
            </a:xfrm>
            <a:prstGeom prst="rect">
              <a:avLst/>
            </a:prstGeom>
          </p:spPr>
        </p:pic>
        <p:pic>
          <p:nvPicPr>
            <p:cNvPr id="33" name="Picture 50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3743" y="1994646"/>
              <a:ext cx="118616" cy="152400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9F013B96-418D-4CB4-8FBD-DB706E0D8070}"/>
              </a:ext>
            </a:extLst>
          </p:cNvPr>
          <p:cNvGrpSpPr/>
          <p:nvPr/>
        </p:nvGrpSpPr>
        <p:grpSpPr>
          <a:xfrm>
            <a:off x="3263553" y="1901614"/>
            <a:ext cx="331714" cy="331714"/>
            <a:chOff x="3177230" y="1906345"/>
            <a:chExt cx="331714" cy="331714"/>
          </a:xfrm>
        </p:grpSpPr>
        <p:pic>
          <p:nvPicPr>
            <p:cNvPr id="34" name="Picture 30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77230" y="1906345"/>
              <a:ext cx="331714" cy="331714"/>
            </a:xfrm>
            <a:prstGeom prst="rect">
              <a:avLst/>
            </a:prstGeom>
          </p:spPr>
        </p:pic>
        <p:pic>
          <p:nvPicPr>
            <p:cNvPr id="36" name="Picture 51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67311" y="1978976"/>
              <a:ext cx="144173" cy="185236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EF8DDAB-4366-44E9-8F2A-D9AFD0135119}"/>
              </a:ext>
            </a:extLst>
          </p:cNvPr>
          <p:cNvGrpSpPr/>
          <p:nvPr/>
        </p:nvGrpSpPr>
        <p:grpSpPr>
          <a:xfrm>
            <a:off x="9126637" y="1887391"/>
            <a:ext cx="323850" cy="323850"/>
            <a:chOff x="9126637" y="1922240"/>
            <a:chExt cx="323850" cy="323850"/>
          </a:xfrm>
        </p:grpSpPr>
        <p:pic>
          <p:nvPicPr>
            <p:cNvPr id="37" name="Picture 40" descr="image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26637" y="1922240"/>
              <a:ext cx="323850" cy="323850"/>
            </a:xfrm>
            <a:prstGeom prst="rect">
              <a:avLst/>
            </a:prstGeom>
          </p:spPr>
        </p:pic>
        <p:pic>
          <p:nvPicPr>
            <p:cNvPr id="39" name="Picture 52" descr="image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229180" y="2007965"/>
              <a:ext cx="118616" cy="152400"/>
            </a:xfrm>
            <a:prstGeom prst="rect">
              <a:avLst/>
            </a:prstGeom>
          </p:spPr>
        </p:pic>
      </p:grpSp>
      <p:pic>
        <p:nvPicPr>
          <p:cNvPr id="40" name="그림 39">
            <a:extLst>
              <a:ext uri="{FF2B5EF4-FFF2-40B4-BE49-F238E27FC236}">
                <a16:creationId xmlns:a16="http://schemas.microsoft.com/office/drawing/2014/main" id="{E35D2B4A-BB65-4FBC-AFFD-F28E139F6DA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2629"/>
          <a:stretch/>
        </p:blipFill>
        <p:spPr>
          <a:xfrm>
            <a:off x="9647783" y="3070285"/>
            <a:ext cx="2034917" cy="6154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C10982C1-AE37-4F37-8B52-87EF2F6DB56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17884" y="1864139"/>
            <a:ext cx="331714" cy="33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863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928" y="329184"/>
            <a:ext cx="621792" cy="347472"/>
          </a:xfrm>
          <a:prstGeom prst="round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79809"/>
            <a:ext cx="621792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0</a:t>
            </a:r>
            <a:r>
              <a:rPr lang="en-US" sz="1000" b="1" dirty="0">
                <a:solidFill>
                  <a:srgbClr val="FFFFFF"/>
                </a:solidFill>
                <a:latin typeface="Aptos"/>
              </a:rPr>
              <a:t>3-1</a:t>
            </a:r>
            <a:endParaRPr sz="1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98448" y="387504"/>
            <a:ext cx="347472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900" b="1" dirty="0">
                <a:solidFill>
                  <a:srgbClr val="FF4C4C"/>
                </a:solidFill>
                <a:latin typeface="Aptos"/>
              </a:rPr>
              <a:t>ROUTING TABLE</a:t>
            </a:r>
            <a:endParaRPr sz="900" b="1" dirty="0">
              <a:solidFill>
                <a:srgbClr val="FF4C4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7" y="720192"/>
            <a:ext cx="911740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3000" b="1" dirty="0">
                <a:latin typeface="Aptos"/>
              </a:rPr>
              <a:t>React Router</a:t>
            </a:r>
            <a:r>
              <a:rPr lang="ko-KR" altLang="en-US" sz="3000" b="1" dirty="0">
                <a:latin typeface="Aptos"/>
              </a:rPr>
              <a:t>를 활용한 </a:t>
            </a:r>
            <a:r>
              <a:rPr lang="en-US" sz="3000" b="1" dirty="0">
                <a:latin typeface="Aptos"/>
              </a:rPr>
              <a:t>SPA </a:t>
            </a:r>
            <a:r>
              <a:rPr lang="ko-KR" altLang="en-US" sz="3000" b="1" dirty="0">
                <a:latin typeface="Aptos"/>
              </a:rPr>
              <a:t>동적 라우팅 설계</a:t>
            </a:r>
            <a:endParaRPr sz="3000" b="1" dirty="0"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928" y="6428232"/>
            <a:ext cx="3108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6C6C74"/>
                </a:solidFill>
                <a:latin typeface="Aptos"/>
              </a:rPr>
              <a:t>TIME TICKET · REACT PORTFOLIO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6C6C74"/>
                </a:solidFill>
                <a:latin typeface="Aptos"/>
              </a:rPr>
              <a:t>04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EA8B1A0-3AB6-446C-AFBD-FEE9EADAE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7" y="1836642"/>
            <a:ext cx="5353797" cy="43821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1A5C9B1-F595-4931-9DEA-452D0FF50EEA}"/>
              </a:ext>
            </a:extLst>
          </p:cNvPr>
          <p:cNvSpPr txBox="1"/>
          <p:nvPr/>
        </p:nvSpPr>
        <p:spPr>
          <a:xfrm>
            <a:off x="5117966" y="1627164"/>
            <a:ext cx="1040891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800" b="1" dirty="0">
                <a:solidFill>
                  <a:srgbClr val="FF4C4C"/>
                </a:solidFill>
                <a:latin typeface="Aptos"/>
              </a:rPr>
              <a:t>App</a:t>
            </a:r>
            <a:r>
              <a:rPr sz="800" b="1" dirty="0">
                <a:solidFill>
                  <a:srgbClr val="FF4C4C"/>
                </a:solidFill>
                <a:latin typeface="Aptos"/>
              </a:rPr>
              <a:t>.js </a:t>
            </a:r>
            <a:r>
              <a:rPr lang="en-US" sz="800" b="1" dirty="0">
                <a:solidFill>
                  <a:srgbClr val="FF4C4C"/>
                </a:solidFill>
                <a:latin typeface="Aptos"/>
              </a:rPr>
              <a:t>_ router</a:t>
            </a:r>
            <a:endParaRPr sz="800" b="1" dirty="0">
              <a:solidFill>
                <a:srgbClr val="FF4C4C"/>
              </a:solidFill>
              <a:latin typeface="Apto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B7B05A-CAE4-46D6-A5D2-65A438B2C73C}"/>
              </a:ext>
            </a:extLst>
          </p:cNvPr>
          <p:cNvSpPr txBox="1"/>
          <p:nvPr/>
        </p:nvSpPr>
        <p:spPr>
          <a:xfrm>
            <a:off x="701040" y="1282643"/>
            <a:ext cx="539496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200" b="0" dirty="0">
                <a:solidFill>
                  <a:srgbClr val="6C6C74"/>
                </a:solidFill>
                <a:latin typeface="Aptos"/>
              </a:rPr>
              <a:t>React Router</a:t>
            </a:r>
            <a:r>
              <a:rPr lang="ko-KR" altLang="en-US" sz="1200" b="0" dirty="0">
                <a:solidFill>
                  <a:srgbClr val="6C6C74"/>
                </a:solidFill>
                <a:latin typeface="Aptos"/>
              </a:rPr>
              <a:t>를 활용해 각 페이지 컴포넌트와 </a:t>
            </a:r>
            <a:r>
              <a:rPr lang="en-US" altLang="ko-KR" sz="1200" b="0" dirty="0">
                <a:solidFill>
                  <a:srgbClr val="6C6C74"/>
                </a:solidFill>
                <a:latin typeface="Aptos"/>
              </a:rPr>
              <a:t>URL </a:t>
            </a:r>
            <a:r>
              <a:rPr lang="ko-KR" altLang="en-US" sz="1200" b="0" dirty="0">
                <a:solidFill>
                  <a:srgbClr val="6C6C74"/>
                </a:solidFill>
                <a:latin typeface="Aptos"/>
              </a:rPr>
              <a:t>매핑</a:t>
            </a:r>
            <a:endParaRPr sz="1200" b="0" dirty="0">
              <a:solidFill>
                <a:srgbClr val="6C6C74"/>
              </a:solidFill>
              <a:latin typeface="Aptos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8C11B52-85FC-49D6-BD26-3940145EE663}"/>
              </a:ext>
            </a:extLst>
          </p:cNvPr>
          <p:cNvGrpSpPr/>
          <p:nvPr/>
        </p:nvGrpSpPr>
        <p:grpSpPr>
          <a:xfrm>
            <a:off x="6305550" y="2017190"/>
            <a:ext cx="5458301" cy="1066800"/>
            <a:chOff x="6229350" y="1849090"/>
            <a:chExt cx="5458301" cy="1066800"/>
          </a:xfrm>
        </p:grpSpPr>
        <p:pic>
          <p:nvPicPr>
            <p:cNvPr id="19" name="Picture 4" descr="image.png">
              <a:extLst>
                <a:ext uri="{FF2B5EF4-FFF2-40B4-BE49-F238E27FC236}">
                  <a16:creationId xmlns:a16="http://schemas.microsoft.com/office/drawing/2014/main" id="{5E8E88E8-973D-40C4-99A5-8F5BAE8BB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29350" y="1849090"/>
              <a:ext cx="5429250" cy="10668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E681795-FAC0-481B-926F-5A991D33D73D}"/>
                </a:ext>
              </a:extLst>
            </p:cNvPr>
            <p:cNvSpPr txBox="1"/>
            <p:nvPr/>
          </p:nvSpPr>
          <p:spPr>
            <a:xfrm>
              <a:off x="6477000" y="2068165"/>
              <a:ext cx="5210651" cy="184666"/>
            </a:xfrm>
            <a:prstGeom prst="rect">
              <a:avLst/>
            </a:prstGeom>
            <a:noFill/>
          </p:spPr>
          <p:txBody>
            <a:bodyPr wrap="square" lIns="175766" tIns="0" rIns="0" bIns="0" anchor="t">
              <a:spAutoFit/>
            </a:bodyPr>
            <a:lstStyle/>
            <a:p>
              <a:pPr algn="l"/>
              <a:r>
                <a:rPr lang="en-US" sz="1200" b="1" i="0" u="none" dirty="0">
                  <a:solidFill>
                    <a:srgbClr val="0F172A"/>
                  </a:solidFill>
                  <a:latin typeface="Pretendard"/>
                </a:rPr>
                <a:t>SPA </a:t>
              </a:r>
              <a:r>
                <a:rPr lang="ko-KR" altLang="en-US" sz="1200" b="1" i="0" u="none" dirty="0">
                  <a:solidFill>
                    <a:srgbClr val="0F172A"/>
                  </a:solidFill>
                  <a:latin typeface="Pretendard"/>
                </a:rPr>
                <a:t>글로벌 레이아웃</a:t>
              </a:r>
              <a:endParaRPr sz="1200" b="1" i="0" u="none" dirty="0">
                <a:solidFill>
                  <a:srgbClr val="0F172A"/>
                </a:solidFill>
                <a:latin typeface="Pretendard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484ABDA-FE86-4048-AEF6-016F942C83CE}"/>
                </a:ext>
              </a:extLst>
            </p:cNvPr>
            <p:cNvSpPr txBox="1"/>
            <p:nvPr/>
          </p:nvSpPr>
          <p:spPr>
            <a:xfrm>
              <a:off x="6477000" y="2325340"/>
              <a:ext cx="4962525" cy="36965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462"/>
                </a:lnSpc>
              </a:pPr>
              <a:r>
                <a:rPr lang="en-US" sz="975" b="0" i="0" u="none" dirty="0">
                  <a:solidFill>
                    <a:srgbClr val="475569"/>
                  </a:solidFill>
                  <a:latin typeface="Pretendard"/>
                </a:rPr>
                <a:t>&lt;Header&gt; </a:t>
              </a:r>
              <a:r>
                <a:rPr lang="ko-KR" altLang="en-US" sz="975" b="0" i="0" u="none" dirty="0">
                  <a:solidFill>
                    <a:srgbClr val="475569"/>
                  </a:solidFill>
                  <a:latin typeface="Pretendard"/>
                </a:rPr>
                <a:t>와</a:t>
              </a:r>
              <a:r>
                <a:rPr lang="ko-KR" altLang="en-US" sz="975" dirty="0">
                  <a:solidFill>
                    <a:srgbClr val="475569"/>
                  </a:solidFill>
                  <a:latin typeface="Pretendard"/>
                </a:rPr>
                <a:t> </a:t>
              </a:r>
              <a:r>
                <a:rPr lang="en-US" altLang="ko-KR" sz="975" dirty="0">
                  <a:solidFill>
                    <a:srgbClr val="475569"/>
                  </a:solidFill>
                  <a:latin typeface="Pretendard"/>
                </a:rPr>
                <a:t>&lt;Footer&gt;</a:t>
              </a:r>
              <a:r>
                <a:rPr lang="ko-KR" altLang="en-US" sz="975" dirty="0">
                  <a:solidFill>
                    <a:srgbClr val="475569"/>
                  </a:solidFill>
                  <a:latin typeface="Pretendard"/>
                </a:rPr>
                <a:t>를 </a:t>
              </a:r>
              <a:r>
                <a:rPr lang="en-US" altLang="ko-KR" sz="975" dirty="0">
                  <a:solidFill>
                    <a:srgbClr val="475569"/>
                  </a:solidFill>
                  <a:latin typeface="Pretendard"/>
                </a:rPr>
                <a:t>&lt;Routes&gt; </a:t>
              </a:r>
              <a:r>
                <a:rPr lang="ko-KR" altLang="en-US" sz="975" dirty="0">
                  <a:solidFill>
                    <a:srgbClr val="475569"/>
                  </a:solidFill>
                  <a:latin typeface="Pretendard"/>
                </a:rPr>
                <a:t>외부에 배치해 페이지 이동 시 </a:t>
              </a:r>
              <a:br>
                <a:rPr lang="en-US" altLang="ko-KR" sz="975" dirty="0">
                  <a:solidFill>
                    <a:srgbClr val="475569"/>
                  </a:solidFill>
                  <a:latin typeface="Pretendard"/>
                </a:rPr>
              </a:br>
              <a:r>
                <a:rPr lang="ko-KR" altLang="en-US" sz="975" dirty="0">
                  <a:solidFill>
                    <a:srgbClr val="475569"/>
                  </a:solidFill>
                  <a:latin typeface="Pretendard"/>
                </a:rPr>
                <a:t>깜빡임 없는 일관된 프레임 유지</a:t>
              </a:r>
              <a:endParaRPr sz="975" b="0" i="0" u="none" dirty="0">
                <a:solidFill>
                  <a:srgbClr val="475569"/>
                </a:solidFill>
                <a:latin typeface="Pretendard"/>
              </a:endParaRPr>
            </a:p>
          </p:txBody>
        </p:sp>
        <p:pic>
          <p:nvPicPr>
            <p:cNvPr id="30" name="Picture 21" descr="image.png">
              <a:extLst>
                <a:ext uri="{FF2B5EF4-FFF2-40B4-BE49-F238E27FC236}">
                  <a16:creationId xmlns:a16="http://schemas.microsoft.com/office/drawing/2014/main" id="{8E8E92B0-F674-4EC8-AF86-913A87479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77000" y="2087215"/>
              <a:ext cx="118616" cy="152400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9E321AB8-1543-40B0-A935-19A7640533EB}"/>
              </a:ext>
            </a:extLst>
          </p:cNvPr>
          <p:cNvGrpSpPr/>
          <p:nvPr/>
        </p:nvGrpSpPr>
        <p:grpSpPr>
          <a:xfrm>
            <a:off x="6305550" y="3414190"/>
            <a:ext cx="5458301" cy="1066800"/>
            <a:chOff x="6229350" y="3246090"/>
            <a:chExt cx="5458301" cy="1066800"/>
          </a:xfrm>
        </p:grpSpPr>
        <p:pic>
          <p:nvPicPr>
            <p:cNvPr id="21" name="Picture 5" descr="image.png">
              <a:extLst>
                <a:ext uri="{FF2B5EF4-FFF2-40B4-BE49-F238E27FC236}">
                  <a16:creationId xmlns:a16="http://schemas.microsoft.com/office/drawing/2014/main" id="{D45E0A6E-CBCB-4B93-ACFD-FDF00706C6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29350" y="3246090"/>
              <a:ext cx="5429250" cy="10668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6DCCD6B-03EC-40D7-B5E1-5D981DB60528}"/>
                </a:ext>
              </a:extLst>
            </p:cNvPr>
            <p:cNvSpPr txBox="1"/>
            <p:nvPr/>
          </p:nvSpPr>
          <p:spPr>
            <a:xfrm>
              <a:off x="6477000" y="3465165"/>
              <a:ext cx="5210651" cy="184666"/>
            </a:xfrm>
            <a:prstGeom prst="rect">
              <a:avLst/>
            </a:prstGeom>
            <a:noFill/>
          </p:spPr>
          <p:txBody>
            <a:bodyPr wrap="square" lIns="175766" tIns="0" rIns="0" bIns="0" anchor="t">
              <a:spAutoFit/>
            </a:bodyPr>
            <a:lstStyle/>
            <a:p>
              <a:pPr algn="l"/>
              <a:r>
                <a:rPr lang="ko-KR" altLang="en-US" sz="1200" b="1" dirty="0">
                  <a:solidFill>
                    <a:srgbClr val="0F172A"/>
                  </a:solidFill>
                  <a:latin typeface="Pretendard"/>
                </a:rPr>
                <a:t>동적 파라미터 매핑 </a:t>
              </a:r>
              <a:r>
                <a:rPr lang="en-US" altLang="ko-KR" sz="1200" b="1" dirty="0">
                  <a:solidFill>
                    <a:srgbClr val="0F172A"/>
                  </a:solidFill>
                  <a:latin typeface="Pretendard"/>
                </a:rPr>
                <a:t>(/detail/:id)</a:t>
              </a:r>
              <a:endParaRPr sz="1200" b="1" i="0" u="none" dirty="0">
                <a:solidFill>
                  <a:srgbClr val="0F172A"/>
                </a:solidFill>
                <a:latin typeface="Pretendard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33060F4-E7F2-49E2-8F58-C63DF08B52D3}"/>
                </a:ext>
              </a:extLst>
            </p:cNvPr>
            <p:cNvSpPr txBox="1"/>
            <p:nvPr/>
          </p:nvSpPr>
          <p:spPr>
            <a:xfrm>
              <a:off x="6477000" y="3722340"/>
              <a:ext cx="4962525" cy="36965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462"/>
                </a:lnSpc>
              </a:pPr>
              <a:r>
                <a:rPr lang="ko-KR" altLang="en-US" sz="975" b="0" i="0" u="none" dirty="0">
                  <a:solidFill>
                    <a:srgbClr val="475569"/>
                  </a:solidFill>
                  <a:latin typeface="Pretendard"/>
                </a:rPr>
                <a:t>단 하나의 </a:t>
              </a:r>
              <a:r>
                <a:rPr lang="en-US" altLang="ko-KR" sz="975" b="0" i="0" u="none" dirty="0" err="1">
                  <a:solidFill>
                    <a:srgbClr val="475569"/>
                  </a:solidFill>
                  <a:latin typeface="Pretendard"/>
                </a:rPr>
                <a:t>DetailPage</a:t>
              </a:r>
              <a:r>
                <a:rPr lang="en-US" altLang="ko-KR" sz="975" b="0" i="0" u="none" dirty="0">
                  <a:solidFill>
                    <a:srgbClr val="475569"/>
                  </a:solidFill>
                  <a:latin typeface="Pretendard"/>
                </a:rPr>
                <a:t> </a:t>
              </a:r>
              <a:r>
                <a:rPr lang="ko-KR" altLang="en-US" sz="975" b="0" i="0" u="none" dirty="0">
                  <a:solidFill>
                    <a:srgbClr val="475569"/>
                  </a:solidFill>
                  <a:latin typeface="Pretendard"/>
                </a:rPr>
                <a:t>컴포넌트로 모든 티켓의 고유 상세 화면을 </a:t>
              </a:r>
              <a:endParaRPr lang="en-US" altLang="ko-KR" sz="975" b="0" i="0" u="none" dirty="0">
                <a:solidFill>
                  <a:srgbClr val="475569"/>
                </a:solidFill>
                <a:latin typeface="Pretendard"/>
              </a:endParaRPr>
            </a:p>
            <a:p>
              <a:pPr algn="l">
                <a:lnSpc>
                  <a:spcPts val="1462"/>
                </a:lnSpc>
              </a:pPr>
              <a:r>
                <a:rPr lang="ko-KR" altLang="en-US" sz="975" dirty="0">
                  <a:solidFill>
                    <a:srgbClr val="475569"/>
                  </a:solidFill>
                  <a:latin typeface="Pretendard"/>
                </a:rPr>
                <a:t>재사용 처리</a:t>
              </a:r>
              <a:endParaRPr sz="975" b="0" i="0" u="none" dirty="0">
                <a:solidFill>
                  <a:srgbClr val="475569"/>
                </a:solidFill>
                <a:latin typeface="Pretendard"/>
              </a:endParaRPr>
            </a:p>
          </p:txBody>
        </p:sp>
        <p:pic>
          <p:nvPicPr>
            <p:cNvPr id="31" name="Picture 22" descr="image.png">
              <a:extLst>
                <a:ext uri="{FF2B5EF4-FFF2-40B4-BE49-F238E27FC236}">
                  <a16:creationId xmlns:a16="http://schemas.microsoft.com/office/drawing/2014/main" id="{A7F4F7CD-49D5-499D-B2A2-655174F241B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77000" y="3484215"/>
              <a:ext cx="118616" cy="152400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656360EF-1FA2-4E53-9BCC-CC7D1E4665A8}"/>
              </a:ext>
            </a:extLst>
          </p:cNvPr>
          <p:cNvGrpSpPr/>
          <p:nvPr/>
        </p:nvGrpSpPr>
        <p:grpSpPr>
          <a:xfrm>
            <a:off x="6305550" y="4887390"/>
            <a:ext cx="5458301" cy="1066800"/>
            <a:chOff x="6229350" y="4719290"/>
            <a:chExt cx="5458301" cy="1066800"/>
          </a:xfrm>
        </p:grpSpPr>
        <p:pic>
          <p:nvPicPr>
            <p:cNvPr id="23" name="Picture 6" descr="image.png">
              <a:extLst>
                <a:ext uri="{FF2B5EF4-FFF2-40B4-BE49-F238E27FC236}">
                  <a16:creationId xmlns:a16="http://schemas.microsoft.com/office/drawing/2014/main" id="{B39B41BB-DA8D-4596-95E2-36A713F2D04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29350" y="4719290"/>
              <a:ext cx="5429250" cy="106680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E88B8D9-90D6-4DAC-A840-D144B4CC6028}"/>
                </a:ext>
              </a:extLst>
            </p:cNvPr>
            <p:cNvSpPr txBox="1"/>
            <p:nvPr/>
          </p:nvSpPr>
          <p:spPr>
            <a:xfrm>
              <a:off x="6477000" y="4938365"/>
              <a:ext cx="5210651" cy="184666"/>
            </a:xfrm>
            <a:prstGeom prst="rect">
              <a:avLst/>
            </a:prstGeom>
            <a:noFill/>
          </p:spPr>
          <p:txBody>
            <a:bodyPr wrap="square" lIns="175766" tIns="0" rIns="0" bIns="0" anchor="t">
              <a:spAutoFit/>
            </a:bodyPr>
            <a:lstStyle/>
            <a:p>
              <a:pPr algn="l"/>
              <a:r>
                <a:rPr lang="en-US" sz="1200" b="1" i="0" u="none" dirty="0">
                  <a:solidFill>
                    <a:srgbClr val="0F172A"/>
                  </a:solidFill>
                  <a:latin typeface="Pretendard"/>
                </a:rPr>
                <a:t>8</a:t>
              </a:r>
              <a:r>
                <a:rPr lang="ko-KR" altLang="en-US" sz="1200" b="1" i="0" u="none" dirty="0">
                  <a:solidFill>
                    <a:srgbClr val="0F172A"/>
                  </a:solidFill>
                  <a:latin typeface="Pretendard"/>
                </a:rPr>
                <a:t>대 독립 뷰 완결</a:t>
              </a:r>
              <a:endParaRPr sz="1200" b="1" i="0" u="none" dirty="0">
                <a:solidFill>
                  <a:srgbClr val="0F172A"/>
                </a:solidFill>
                <a:latin typeface="Pretendard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5114602-90A2-4B36-BF3C-1802A8A6D4A9}"/>
                </a:ext>
              </a:extLst>
            </p:cNvPr>
            <p:cNvSpPr txBox="1"/>
            <p:nvPr/>
          </p:nvSpPr>
          <p:spPr>
            <a:xfrm>
              <a:off x="6477000" y="5195540"/>
              <a:ext cx="4962525" cy="36965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462"/>
                </a:lnSpc>
              </a:pPr>
              <a:r>
                <a:rPr lang="ko-KR" altLang="en-US" sz="975" b="0" i="0" u="none" dirty="0">
                  <a:solidFill>
                    <a:srgbClr val="475569"/>
                  </a:solidFill>
                  <a:latin typeface="Pretendard"/>
                </a:rPr>
                <a:t>탐색</a:t>
              </a:r>
              <a:r>
                <a:rPr lang="en-US" altLang="ko-KR" sz="975" b="0" i="0" u="none" dirty="0">
                  <a:solidFill>
                    <a:srgbClr val="475569"/>
                  </a:solidFill>
                  <a:latin typeface="Pretendard"/>
                </a:rPr>
                <a:t>(</a:t>
              </a:r>
              <a:r>
                <a:rPr lang="ko-KR" altLang="en-US" sz="975" b="0" i="0" u="none" dirty="0">
                  <a:solidFill>
                    <a:srgbClr val="475569"/>
                  </a:solidFill>
                  <a:latin typeface="Pretendard"/>
                </a:rPr>
                <a:t>캘린더</a:t>
              </a:r>
              <a:r>
                <a:rPr lang="en-US" altLang="ko-KR" sz="975" b="0" i="0" u="none" dirty="0">
                  <a:solidFill>
                    <a:srgbClr val="475569"/>
                  </a:solidFill>
                  <a:latin typeface="Pretendard"/>
                </a:rPr>
                <a:t>, </a:t>
              </a:r>
              <a:r>
                <a:rPr lang="ko-KR" altLang="en-US" sz="975" b="0" i="0" u="none" dirty="0" err="1">
                  <a:solidFill>
                    <a:srgbClr val="475569"/>
                  </a:solidFill>
                  <a:latin typeface="Pretendard"/>
                </a:rPr>
                <a:t>내주변</a:t>
              </a:r>
              <a:r>
                <a:rPr lang="en-US" altLang="ko-KR" sz="975" b="0" i="0" u="none" dirty="0">
                  <a:solidFill>
                    <a:srgbClr val="475569"/>
                  </a:solidFill>
                  <a:latin typeface="Pretendard"/>
                </a:rPr>
                <a:t>, </a:t>
              </a:r>
              <a:r>
                <a:rPr lang="ko-KR" altLang="en-US" sz="975" b="0" i="0" u="none" dirty="0" err="1">
                  <a:solidFill>
                    <a:srgbClr val="475569"/>
                  </a:solidFill>
                  <a:latin typeface="Pretendard"/>
                </a:rPr>
                <a:t>또래픽</a:t>
              </a:r>
              <a:r>
                <a:rPr lang="en-US" altLang="ko-KR" sz="975" b="0" i="0" u="none" dirty="0">
                  <a:solidFill>
                    <a:srgbClr val="475569"/>
                  </a:solidFill>
                  <a:latin typeface="Pretendard"/>
                </a:rPr>
                <a:t>), </a:t>
              </a:r>
              <a:r>
                <a:rPr lang="ko-KR" altLang="en-US" sz="975" b="0" i="0" u="none" dirty="0">
                  <a:solidFill>
                    <a:srgbClr val="475569"/>
                  </a:solidFill>
                  <a:latin typeface="Pretendard"/>
                </a:rPr>
                <a:t>검색결과</a:t>
              </a:r>
              <a:r>
                <a:rPr lang="en-US" altLang="ko-KR" sz="975" b="0" i="0" u="none" dirty="0">
                  <a:solidFill>
                    <a:srgbClr val="475569"/>
                  </a:solidFill>
                  <a:latin typeface="Pretendard"/>
                </a:rPr>
                <a:t>, </a:t>
              </a:r>
              <a:r>
                <a:rPr lang="ko-KR" altLang="en-US" sz="975" b="0" i="0" u="none" dirty="0">
                  <a:solidFill>
                    <a:srgbClr val="475569"/>
                  </a:solidFill>
                  <a:latin typeface="Pretendard"/>
                </a:rPr>
                <a:t>로그인</a:t>
              </a:r>
              <a:r>
                <a:rPr lang="en-US" altLang="ko-KR" sz="975" b="0" i="0" u="none" dirty="0">
                  <a:solidFill>
                    <a:srgbClr val="475569"/>
                  </a:solidFill>
                  <a:latin typeface="Pretendard"/>
                </a:rPr>
                <a:t>, 1:1 </a:t>
              </a:r>
              <a:r>
                <a:rPr lang="ko-KR" altLang="en-US" sz="975" b="0" i="0" u="none" dirty="0">
                  <a:solidFill>
                    <a:srgbClr val="475569"/>
                  </a:solidFill>
                  <a:latin typeface="Pretendard"/>
                </a:rPr>
                <a:t>문의까지 </a:t>
              </a:r>
              <a:endParaRPr lang="en-US" altLang="ko-KR" sz="975" b="0" i="0" u="none" dirty="0">
                <a:solidFill>
                  <a:srgbClr val="475569"/>
                </a:solidFill>
                <a:latin typeface="Pretendard"/>
              </a:endParaRPr>
            </a:p>
            <a:p>
              <a:pPr algn="l">
                <a:lnSpc>
                  <a:spcPts val="1462"/>
                </a:lnSpc>
              </a:pPr>
              <a:r>
                <a:rPr lang="ko-KR" altLang="en-US" sz="975" dirty="0">
                  <a:solidFill>
                    <a:srgbClr val="475569"/>
                  </a:solidFill>
                  <a:latin typeface="Pretendard"/>
                </a:rPr>
                <a:t>풀 서비스 라우팅 구현</a:t>
              </a:r>
              <a:endParaRPr sz="975" b="0" i="0" u="none" dirty="0">
                <a:solidFill>
                  <a:srgbClr val="475569"/>
                </a:solidFill>
                <a:latin typeface="Pretendard"/>
              </a:endParaRPr>
            </a:p>
          </p:txBody>
        </p:sp>
        <p:pic>
          <p:nvPicPr>
            <p:cNvPr id="32" name="Picture 23" descr="image.png">
              <a:extLst>
                <a:ext uri="{FF2B5EF4-FFF2-40B4-BE49-F238E27FC236}">
                  <a16:creationId xmlns:a16="http://schemas.microsoft.com/office/drawing/2014/main" id="{9DA626C4-82E3-428C-8519-63DC4FC861B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477000" y="4957415"/>
              <a:ext cx="118616" cy="152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8503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928" y="329184"/>
            <a:ext cx="621792" cy="347472"/>
          </a:xfrm>
          <a:prstGeom prst="round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79809"/>
            <a:ext cx="621792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0</a:t>
            </a:r>
            <a:r>
              <a:rPr lang="en-US" sz="1000" b="1" dirty="0">
                <a:solidFill>
                  <a:srgbClr val="FFFFFF"/>
                </a:solidFill>
                <a:latin typeface="Aptos"/>
              </a:rPr>
              <a:t>4</a:t>
            </a:r>
            <a:endParaRPr sz="1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98448" y="347472"/>
            <a:ext cx="3474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 dirty="0">
                <a:solidFill>
                  <a:srgbClr val="FF4C4C"/>
                </a:solidFill>
                <a:latin typeface="Aptos"/>
              </a:rPr>
              <a:t>MAIN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7" y="795616"/>
            <a:ext cx="5696713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dirty="0" err="1">
                <a:solidFill>
                  <a:srgbClr val="19191D"/>
                </a:solidFill>
                <a:latin typeface="Aptos"/>
              </a:rPr>
              <a:t>컴포넌트를</a:t>
            </a:r>
            <a:r>
              <a:rPr sz="3000" b="1" dirty="0">
                <a:solidFill>
                  <a:srgbClr val="19191D"/>
                </a:solidFill>
                <a:latin typeface="Aptos"/>
              </a:rPr>
              <a:t> </a:t>
            </a:r>
            <a:r>
              <a:rPr sz="3000" b="1" dirty="0" err="1">
                <a:solidFill>
                  <a:srgbClr val="19191D"/>
                </a:solidFill>
                <a:latin typeface="Aptos"/>
              </a:rPr>
              <a:t>조합</a:t>
            </a:r>
            <a:r>
              <a:rPr lang="ko-KR" altLang="en-US" sz="3000" b="1" dirty="0">
                <a:solidFill>
                  <a:srgbClr val="19191D"/>
                </a:solidFill>
                <a:latin typeface="Aptos"/>
              </a:rPr>
              <a:t>한 </a:t>
            </a:r>
            <a:r>
              <a:rPr sz="3000" b="1" dirty="0" err="1">
                <a:solidFill>
                  <a:srgbClr val="19191D"/>
                </a:solidFill>
                <a:latin typeface="Aptos"/>
              </a:rPr>
              <a:t>메인</a:t>
            </a:r>
            <a:r>
              <a:rPr sz="3000" b="1" dirty="0">
                <a:solidFill>
                  <a:srgbClr val="19191D"/>
                </a:solidFill>
                <a:latin typeface="Aptos"/>
              </a:rPr>
              <a:t> </a:t>
            </a:r>
            <a:r>
              <a:rPr sz="3000" b="1" dirty="0" err="1">
                <a:solidFill>
                  <a:srgbClr val="19191D"/>
                </a:solidFill>
                <a:latin typeface="Aptos"/>
              </a:rPr>
              <a:t>화면</a:t>
            </a:r>
            <a:endParaRPr sz="3000" b="1" dirty="0">
              <a:solidFill>
                <a:srgbClr val="19191D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7" y="1291992"/>
            <a:ext cx="5394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 err="1">
                <a:solidFill>
                  <a:srgbClr val="6C6C74"/>
                </a:solidFill>
                <a:latin typeface="Aptos"/>
              </a:rPr>
              <a:t>앞에서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분리한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컴포넌트를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Home에서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조합하여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메인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화면을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구성했습니다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.
각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영역을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독립적으로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관리해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수정과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재사용이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쉽도록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구현했습니다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28232"/>
            <a:ext cx="3108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6C6C74"/>
                </a:solidFill>
                <a:latin typeface="Aptos"/>
              </a:rPr>
              <a:t>TIME TICKET · REACT PORTFOLIO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6C6C74"/>
                </a:solidFill>
                <a:latin typeface="Aptos"/>
              </a:rPr>
              <a:t>04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F1412DF-E42A-465B-93A4-CEB724518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78" y="1942830"/>
            <a:ext cx="4790322" cy="137399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F465F38-7734-4C58-840A-37A8178CD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15" y="3230451"/>
            <a:ext cx="4521325" cy="292030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2802316-12A1-4021-826E-8E291D8C7A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113" y="2206892"/>
            <a:ext cx="5737767" cy="35712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3732B6D-04C4-4BA5-B31E-4CE313ABCF81}"/>
              </a:ext>
            </a:extLst>
          </p:cNvPr>
          <p:cNvSpPr txBox="1"/>
          <p:nvPr/>
        </p:nvSpPr>
        <p:spPr>
          <a:xfrm>
            <a:off x="9937967" y="1954761"/>
            <a:ext cx="1642918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800" b="1" dirty="0">
                <a:solidFill>
                  <a:srgbClr val="FF4C4C"/>
                </a:solidFill>
                <a:latin typeface="Aptos"/>
              </a:rPr>
              <a:t>App</a:t>
            </a:r>
            <a:r>
              <a:rPr sz="800" b="1" dirty="0">
                <a:solidFill>
                  <a:srgbClr val="FF4C4C"/>
                </a:solidFill>
                <a:latin typeface="Aptos"/>
              </a:rPr>
              <a:t>.js </a:t>
            </a:r>
            <a:r>
              <a:rPr lang="en-US" sz="800" b="1" dirty="0">
                <a:solidFill>
                  <a:srgbClr val="FF4C4C"/>
                </a:solidFill>
                <a:latin typeface="Aptos"/>
              </a:rPr>
              <a:t>_ </a:t>
            </a:r>
            <a:r>
              <a:rPr lang="ko-KR" altLang="en-US" sz="800" b="1" dirty="0">
                <a:solidFill>
                  <a:srgbClr val="FF4C4C"/>
                </a:solidFill>
                <a:latin typeface="Aptos"/>
              </a:rPr>
              <a:t>메인 섹션 컴포넌트 조합</a:t>
            </a:r>
            <a:endParaRPr sz="800" b="1" dirty="0">
              <a:solidFill>
                <a:srgbClr val="FF4C4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928" y="329184"/>
            <a:ext cx="621792" cy="347472"/>
          </a:xfrm>
          <a:prstGeom prst="round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79809"/>
            <a:ext cx="621792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0</a:t>
            </a:r>
            <a:r>
              <a:rPr lang="en-US" sz="1000" b="1" dirty="0">
                <a:solidFill>
                  <a:srgbClr val="FFFFFF"/>
                </a:solidFill>
                <a:latin typeface="Aptos"/>
              </a:rPr>
              <a:t>5</a:t>
            </a:r>
            <a:endParaRPr sz="1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98448" y="347472"/>
            <a:ext cx="3474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F4C4C"/>
                </a:solidFill>
                <a:latin typeface="Aptos"/>
              </a:rPr>
              <a:t>SEARCH / ALL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3104"/>
            <a:ext cx="4937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 err="1">
                <a:solidFill>
                  <a:srgbClr val="19191D"/>
                </a:solidFill>
                <a:latin typeface="Aptos"/>
              </a:rPr>
              <a:t>검색어에</a:t>
            </a:r>
            <a:r>
              <a:rPr sz="2800" b="1" dirty="0">
                <a:solidFill>
                  <a:srgbClr val="19191D"/>
                </a:solidFill>
                <a:latin typeface="Aptos"/>
              </a:rPr>
              <a:t> </a:t>
            </a:r>
            <a:r>
              <a:rPr sz="2800" b="1" dirty="0" err="1">
                <a:solidFill>
                  <a:srgbClr val="19191D"/>
                </a:solidFill>
                <a:latin typeface="Aptos"/>
              </a:rPr>
              <a:t>따라</a:t>
            </a:r>
            <a:r>
              <a:rPr sz="2800" b="1" dirty="0">
                <a:solidFill>
                  <a:srgbClr val="19191D"/>
                </a:solidFill>
                <a:latin typeface="Aptos"/>
              </a:rPr>
              <a:t>
</a:t>
            </a:r>
            <a:r>
              <a:rPr sz="2800" b="1" dirty="0" err="1">
                <a:solidFill>
                  <a:srgbClr val="19191D"/>
                </a:solidFill>
                <a:latin typeface="Aptos"/>
              </a:rPr>
              <a:t>티켓</a:t>
            </a:r>
            <a:r>
              <a:rPr sz="2800" b="1" dirty="0">
                <a:solidFill>
                  <a:srgbClr val="19191D"/>
                </a:solidFill>
                <a:latin typeface="Aptos"/>
              </a:rPr>
              <a:t> </a:t>
            </a:r>
            <a:r>
              <a:rPr sz="2800" b="1" dirty="0" err="1">
                <a:solidFill>
                  <a:srgbClr val="19191D"/>
                </a:solidFill>
                <a:latin typeface="Aptos"/>
              </a:rPr>
              <a:t>목록을</a:t>
            </a:r>
            <a:r>
              <a:rPr sz="2800" b="1" dirty="0">
                <a:solidFill>
                  <a:srgbClr val="19191D"/>
                </a:solidFill>
                <a:latin typeface="Aptos"/>
              </a:rPr>
              <a:t> </a:t>
            </a:r>
            <a:r>
              <a:rPr sz="2800" b="1" dirty="0" err="1">
                <a:solidFill>
                  <a:srgbClr val="19191D"/>
                </a:solidFill>
                <a:latin typeface="Aptos"/>
              </a:rPr>
              <a:t>동적으로</a:t>
            </a:r>
            <a:r>
              <a:rPr sz="2800" b="1" dirty="0">
                <a:solidFill>
                  <a:srgbClr val="19191D"/>
                </a:solidFill>
                <a:latin typeface="Aptos"/>
              </a:rPr>
              <a:t> </a:t>
            </a:r>
            <a:r>
              <a:rPr sz="2800" b="1" dirty="0" err="1">
                <a:solidFill>
                  <a:srgbClr val="19191D"/>
                </a:solidFill>
                <a:latin typeface="Aptos"/>
              </a:rPr>
              <a:t>필터링</a:t>
            </a:r>
            <a:endParaRPr sz="2800" b="1" dirty="0">
              <a:solidFill>
                <a:srgbClr val="19191D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833440"/>
            <a:ext cx="5577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6C6C74"/>
                </a:solidFill>
                <a:latin typeface="Aptos"/>
              </a:rPr>
              <a:t>Header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검색창에서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입력한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검색어를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URL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Query로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전달하고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,
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AllTicket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페이지에서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제목·장르·장소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기준으로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결과를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보여줍니다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28232"/>
            <a:ext cx="3108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6C6C74"/>
                </a:solidFill>
                <a:latin typeface="Aptos"/>
              </a:rPr>
              <a:t>TIME TICKET · REACT PORTFOLIO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6C6C74"/>
                </a:solidFill>
                <a:latin typeface="Aptos"/>
              </a:rPr>
              <a:t>05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64D6C291-F4C2-4D10-94E2-CF90D4742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390" y="2609736"/>
            <a:ext cx="4529795" cy="81926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99712AD8-2FDA-4FFF-B900-B77B7B67D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389" y="3571484"/>
            <a:ext cx="4529795" cy="201851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A9B99255-B0DC-4A66-ACB2-389C119666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46" y="1007706"/>
            <a:ext cx="4466551" cy="48145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C9AF4B5-0A5B-4250-AFD5-4B5D5BB3CFB6}"/>
              </a:ext>
            </a:extLst>
          </p:cNvPr>
          <p:cNvSpPr txBox="1"/>
          <p:nvPr/>
        </p:nvSpPr>
        <p:spPr>
          <a:xfrm>
            <a:off x="6696143" y="2348240"/>
            <a:ext cx="3923144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ko-KR" sz="1100" dirty="0">
                <a:highlight>
                  <a:srgbClr val="FFFF00"/>
                </a:highlight>
              </a:rPr>
              <a:t>// 2. </a:t>
            </a:r>
            <a:r>
              <a:rPr lang="ko-KR" altLang="en-US" sz="1100" dirty="0">
                <a:highlight>
                  <a:srgbClr val="FFFF00"/>
                </a:highlight>
              </a:rPr>
              <a:t>제목 </a:t>
            </a:r>
            <a:r>
              <a:rPr lang="en-US" altLang="ko-KR" sz="1100" dirty="0">
                <a:highlight>
                  <a:srgbClr val="FFFF00"/>
                </a:highlight>
              </a:rPr>
              <a:t>· </a:t>
            </a:r>
            <a:r>
              <a:rPr lang="ko-KR" altLang="en-US" sz="1100" dirty="0">
                <a:highlight>
                  <a:srgbClr val="FFFF00"/>
                </a:highlight>
              </a:rPr>
              <a:t>장소 </a:t>
            </a:r>
            <a:r>
              <a:rPr lang="en-US" altLang="ko-KR" sz="1100" dirty="0">
                <a:highlight>
                  <a:srgbClr val="FFFF00"/>
                </a:highlight>
              </a:rPr>
              <a:t>· </a:t>
            </a:r>
            <a:r>
              <a:rPr lang="ko-KR" altLang="en-US" sz="1100" dirty="0">
                <a:highlight>
                  <a:srgbClr val="FFFF00"/>
                </a:highlight>
              </a:rPr>
              <a:t>장르 기준 동적 필터링</a:t>
            </a:r>
            <a:endParaRPr sz="1100" b="1" dirty="0">
              <a:highlight>
                <a:srgbClr val="FFFF00"/>
              </a:highlight>
              <a:latin typeface="Apto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8E24B1-6631-449E-8F4D-F7C2B9B6B6FD}"/>
              </a:ext>
            </a:extLst>
          </p:cNvPr>
          <p:cNvSpPr txBox="1"/>
          <p:nvPr/>
        </p:nvSpPr>
        <p:spPr>
          <a:xfrm>
            <a:off x="6693369" y="986056"/>
            <a:ext cx="5091404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ko-KR" sz="1100" dirty="0">
                <a:highlight>
                  <a:srgbClr val="FFFF00"/>
                </a:highlight>
              </a:rPr>
              <a:t>// 1. URL </a:t>
            </a:r>
            <a:r>
              <a:rPr lang="ko-KR" altLang="en-US" sz="1100" dirty="0">
                <a:highlight>
                  <a:srgbClr val="FFFF00"/>
                </a:highlight>
              </a:rPr>
              <a:t>쿼리 파라미터에서 검색어 추출 </a:t>
            </a:r>
            <a:r>
              <a:rPr lang="en-US" altLang="ko-KR" sz="1100" dirty="0">
                <a:highlight>
                  <a:srgbClr val="FFFF00"/>
                </a:highlight>
              </a:rPr>
              <a:t>(?search=</a:t>
            </a:r>
            <a:r>
              <a:rPr lang="ko-KR" altLang="en-US" sz="1100" dirty="0">
                <a:highlight>
                  <a:srgbClr val="FFFF00"/>
                </a:highlight>
              </a:rPr>
              <a:t>키워드</a:t>
            </a:r>
            <a:r>
              <a:rPr lang="en-US" altLang="ko-KR" sz="1100" dirty="0">
                <a:highlight>
                  <a:srgbClr val="FFFF00"/>
                </a:highlight>
              </a:rPr>
              <a:t>)</a:t>
            </a:r>
            <a:endParaRPr sz="1100" b="1" dirty="0">
              <a:highlight>
                <a:srgbClr val="FFFF00"/>
              </a:highlight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20382" y="5570597"/>
            <a:ext cx="1272458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 dirty="0">
                <a:solidFill>
                  <a:srgbClr val="FF4C4C"/>
                </a:solidFill>
                <a:latin typeface="Aptos"/>
              </a:rPr>
              <a:t>AllTicket.js - </a:t>
            </a:r>
            <a:r>
              <a:rPr sz="800" b="1" dirty="0" err="1">
                <a:solidFill>
                  <a:srgbClr val="FF4C4C"/>
                </a:solidFill>
                <a:latin typeface="Aptos"/>
              </a:rPr>
              <a:t>검색</a:t>
            </a:r>
            <a:r>
              <a:rPr sz="800" b="1" dirty="0">
                <a:solidFill>
                  <a:srgbClr val="FF4C4C"/>
                </a:solidFill>
                <a:latin typeface="Aptos"/>
              </a:rPr>
              <a:t> </a:t>
            </a:r>
            <a:r>
              <a:rPr sz="800" b="1" dirty="0" err="1">
                <a:solidFill>
                  <a:srgbClr val="FF4C4C"/>
                </a:solidFill>
                <a:latin typeface="Aptos"/>
              </a:rPr>
              <a:t>필터링</a:t>
            </a:r>
            <a:endParaRPr sz="800" b="1" dirty="0">
              <a:solidFill>
                <a:srgbClr val="FF4C4C"/>
              </a:solidFill>
              <a:latin typeface="Apto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CF94E2-DAC5-467E-BF2C-F4E4C7E589BB}"/>
              </a:ext>
            </a:extLst>
          </p:cNvPr>
          <p:cNvSpPr txBox="1"/>
          <p:nvPr/>
        </p:nvSpPr>
        <p:spPr>
          <a:xfrm>
            <a:off x="6902603" y="3045956"/>
            <a:ext cx="2485957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ko-KR" sz="1100" dirty="0">
                <a:highlight>
                  <a:srgbClr val="FFFF00"/>
                </a:highlight>
              </a:rPr>
              <a:t>// </a:t>
            </a:r>
            <a:r>
              <a:rPr lang="ko-KR" altLang="en-US" sz="1100" dirty="0">
                <a:highlight>
                  <a:srgbClr val="FFFF00"/>
                </a:highlight>
              </a:rPr>
              <a:t>검색어가 없으면 전체 표시</a:t>
            </a:r>
            <a:endParaRPr sz="1100" b="1" dirty="0">
              <a:highlight>
                <a:srgbClr val="FFFF00"/>
              </a:highlight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928" y="329184"/>
            <a:ext cx="621792" cy="347472"/>
          </a:xfrm>
          <a:prstGeom prst="round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79809"/>
            <a:ext cx="621792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0</a:t>
            </a:r>
            <a:r>
              <a:rPr lang="en-US" sz="1000" b="1" dirty="0">
                <a:solidFill>
                  <a:srgbClr val="FFFFFF"/>
                </a:solidFill>
                <a:latin typeface="Aptos"/>
              </a:rPr>
              <a:t>6</a:t>
            </a:r>
            <a:endParaRPr sz="1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98448" y="347472"/>
            <a:ext cx="3474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F4C4C"/>
                </a:solidFill>
                <a:latin typeface="Aptos"/>
              </a:rPr>
              <a:t>SMART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4937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dirty="0" err="1">
                <a:solidFill>
                  <a:srgbClr val="19191D"/>
                </a:solidFill>
                <a:latin typeface="Aptos"/>
              </a:rPr>
              <a:t>티켓을</a:t>
            </a:r>
            <a:r>
              <a:rPr sz="3000" b="1" dirty="0">
                <a:solidFill>
                  <a:srgbClr val="19191D"/>
                </a:solidFill>
                <a:latin typeface="Aptos"/>
              </a:rPr>
              <a:t> </a:t>
            </a:r>
            <a:r>
              <a:rPr sz="3000" b="1" dirty="0" err="1">
                <a:solidFill>
                  <a:srgbClr val="19191D"/>
                </a:solidFill>
                <a:latin typeface="Aptos"/>
              </a:rPr>
              <a:t>찾는</a:t>
            </a:r>
            <a:r>
              <a:rPr sz="3000" b="1" dirty="0">
                <a:solidFill>
                  <a:srgbClr val="19191D"/>
                </a:solidFill>
                <a:latin typeface="Aptos"/>
              </a:rPr>
              <a:t> 3가지 </a:t>
            </a:r>
            <a:r>
              <a:rPr sz="3000" b="1" dirty="0" err="1">
                <a:solidFill>
                  <a:srgbClr val="19191D"/>
                </a:solidFill>
                <a:latin typeface="Aptos"/>
              </a:rPr>
              <a:t>방법</a:t>
            </a:r>
            <a:endParaRPr sz="3000" b="1" dirty="0">
              <a:solidFill>
                <a:srgbClr val="19191D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6656" y="1407160"/>
            <a:ext cx="6217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 err="1">
                <a:solidFill>
                  <a:srgbClr val="6C6C74"/>
                </a:solidFill>
                <a:latin typeface="Aptos"/>
              </a:rPr>
              <a:t>단순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카테고리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탐색이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아니라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endParaRPr lang="en-US" sz="1200" b="0" dirty="0">
              <a:solidFill>
                <a:srgbClr val="6C6C74"/>
              </a:solidFill>
              <a:latin typeface="Aptos"/>
            </a:endParaRPr>
          </a:p>
          <a:p>
            <a:pPr algn="l"/>
            <a:r>
              <a:rPr sz="1200" b="0" dirty="0" err="1">
                <a:solidFill>
                  <a:srgbClr val="6C6C74"/>
                </a:solidFill>
                <a:latin typeface="Aptos"/>
              </a:rPr>
              <a:t>날짜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,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지역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,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또래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취향을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기준으로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티켓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탐색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경험을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확장했습니다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28232"/>
            <a:ext cx="3108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6C6C74"/>
                </a:solidFill>
                <a:latin typeface="Aptos"/>
              </a:rPr>
              <a:t>TIME TICKET · REACT PORTFOLIO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6C6C74"/>
                </a:solidFill>
                <a:latin typeface="Aptos"/>
              </a:rPr>
              <a:t>06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734E3FCE-B706-4937-A4D2-C6455F8FCE03}"/>
              </a:ext>
            </a:extLst>
          </p:cNvPr>
          <p:cNvGrpSpPr/>
          <p:nvPr/>
        </p:nvGrpSpPr>
        <p:grpSpPr>
          <a:xfrm>
            <a:off x="641145" y="2321990"/>
            <a:ext cx="3354781" cy="3875610"/>
            <a:chOff x="641145" y="2321990"/>
            <a:chExt cx="3354781" cy="3875610"/>
          </a:xfrm>
        </p:grpSpPr>
        <p:pic>
          <p:nvPicPr>
            <p:cNvPr id="30" name="Picture 2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1145" y="2321990"/>
              <a:ext cx="3354781" cy="3875610"/>
            </a:xfrm>
            <a:prstGeom prst="rect">
              <a:avLst/>
            </a:prstGeom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</p:pic>
        <p:sp>
          <p:nvSpPr>
            <p:cNvPr id="9" name="TextBox 8"/>
            <p:cNvSpPr txBox="1"/>
            <p:nvPr/>
          </p:nvSpPr>
          <p:spPr>
            <a:xfrm>
              <a:off x="1142669" y="2546604"/>
              <a:ext cx="2743200" cy="36576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800" b="1" dirty="0" err="1">
                  <a:solidFill>
                    <a:srgbClr val="19191D"/>
                  </a:solidFill>
                  <a:latin typeface="Aptos"/>
                </a:rPr>
                <a:t>관람</a:t>
              </a:r>
              <a:r>
                <a:rPr sz="1800" b="1" dirty="0">
                  <a:solidFill>
                    <a:srgbClr val="19191D"/>
                  </a:solidFill>
                  <a:latin typeface="Aptos"/>
                </a:rPr>
                <a:t> </a:t>
              </a:r>
              <a:r>
                <a:rPr sz="1800" b="1" dirty="0" err="1">
                  <a:solidFill>
                    <a:srgbClr val="19191D"/>
                  </a:solidFill>
                  <a:latin typeface="Aptos"/>
                </a:rPr>
                <a:t>캘린더</a:t>
              </a:r>
              <a:endParaRPr sz="1800" b="1" dirty="0">
                <a:solidFill>
                  <a:srgbClr val="19191D"/>
                </a:solidFill>
                <a:latin typeface="Apto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59536" y="2904158"/>
              <a:ext cx="2743200" cy="274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000" b="0" dirty="0" err="1">
                  <a:solidFill>
                    <a:srgbClr val="6C6C74"/>
                  </a:solidFill>
                  <a:latin typeface="Aptos"/>
                </a:rPr>
                <a:t>날짜로</a:t>
              </a:r>
              <a:r>
                <a:rPr sz="1000" b="0" dirty="0">
                  <a:solidFill>
                    <a:srgbClr val="6C6C74"/>
                  </a:solidFill>
                  <a:latin typeface="Aptos"/>
                </a:rPr>
                <a:t> </a:t>
              </a:r>
              <a:r>
                <a:rPr sz="1000" b="0" dirty="0" err="1">
                  <a:solidFill>
                    <a:srgbClr val="6C6C74"/>
                  </a:solidFill>
                  <a:latin typeface="Aptos"/>
                </a:rPr>
                <a:t>찾기</a:t>
              </a:r>
              <a:endParaRPr sz="1000" b="0" dirty="0">
                <a:solidFill>
                  <a:srgbClr val="6C6C74"/>
                </a:solidFill>
                <a:latin typeface="Aptos"/>
              </a:endParaRPr>
            </a:p>
          </p:txBody>
        </p:sp>
        <p:pic>
          <p:nvPicPr>
            <p:cNvPr id="32" name="Picture 26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5586" y="2545002"/>
              <a:ext cx="237083" cy="304800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876255E-E3F3-4D10-A363-256CF452DE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6676" y="3452657"/>
              <a:ext cx="3103718" cy="1942192"/>
            </a:xfrm>
            <a:prstGeom prst="rect">
              <a:avLst/>
            </a:prstGeom>
          </p:spPr>
        </p:pic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7E38C56-6EF1-4957-A52C-3BD9700FA841}"/>
              </a:ext>
            </a:extLst>
          </p:cNvPr>
          <p:cNvGrpSpPr/>
          <p:nvPr/>
        </p:nvGrpSpPr>
        <p:grpSpPr>
          <a:xfrm>
            <a:off x="4251042" y="2321990"/>
            <a:ext cx="3555950" cy="3875610"/>
            <a:chOff x="4251042" y="2321990"/>
            <a:chExt cx="3555950" cy="3875610"/>
          </a:xfrm>
        </p:grpSpPr>
        <p:pic>
          <p:nvPicPr>
            <p:cNvPr id="33" name="Picture 3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51042" y="2321990"/>
              <a:ext cx="3555950" cy="3875610"/>
            </a:xfrm>
            <a:prstGeom prst="rect">
              <a:avLst/>
            </a:prstGeom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</p:pic>
        <p:sp>
          <p:nvSpPr>
            <p:cNvPr id="16" name="TextBox 15"/>
            <p:cNvSpPr txBox="1"/>
            <p:nvPr/>
          </p:nvSpPr>
          <p:spPr>
            <a:xfrm>
              <a:off x="4705167" y="2558210"/>
              <a:ext cx="2743200" cy="36576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800" b="1" dirty="0">
                  <a:solidFill>
                    <a:srgbClr val="19191D"/>
                  </a:solidFill>
                  <a:latin typeface="Aptos"/>
                </a:rPr>
                <a:t>내 </a:t>
              </a:r>
              <a:r>
                <a:rPr sz="1800" b="1" dirty="0" err="1">
                  <a:solidFill>
                    <a:srgbClr val="19191D"/>
                  </a:solidFill>
                  <a:latin typeface="Aptos"/>
                </a:rPr>
                <a:t>주위</a:t>
              </a:r>
              <a:r>
                <a:rPr sz="1800" b="1" dirty="0">
                  <a:solidFill>
                    <a:srgbClr val="19191D"/>
                  </a:solidFill>
                  <a:latin typeface="Aptos"/>
                </a:rPr>
                <a:t> </a:t>
              </a:r>
              <a:r>
                <a:rPr sz="1800" b="1" dirty="0" err="1">
                  <a:solidFill>
                    <a:srgbClr val="19191D"/>
                  </a:solidFill>
                  <a:latin typeface="Aptos"/>
                </a:rPr>
                <a:t>티켓</a:t>
              </a:r>
              <a:endParaRPr sz="1800" b="1" dirty="0">
                <a:solidFill>
                  <a:srgbClr val="19191D"/>
                </a:solidFill>
                <a:latin typeface="Aptos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541667" y="2932645"/>
              <a:ext cx="2743200" cy="274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000" b="0" dirty="0" err="1">
                  <a:solidFill>
                    <a:srgbClr val="6C6C74"/>
                  </a:solidFill>
                  <a:latin typeface="Aptos"/>
                </a:rPr>
                <a:t>지역으로</a:t>
              </a:r>
              <a:r>
                <a:rPr sz="1000" b="0" dirty="0">
                  <a:solidFill>
                    <a:srgbClr val="6C6C74"/>
                  </a:solidFill>
                  <a:latin typeface="Aptos"/>
                </a:rPr>
                <a:t> </a:t>
              </a:r>
              <a:r>
                <a:rPr sz="1000" b="0" dirty="0" err="1">
                  <a:solidFill>
                    <a:srgbClr val="6C6C74"/>
                  </a:solidFill>
                  <a:latin typeface="Aptos"/>
                </a:rPr>
                <a:t>찾기</a:t>
              </a:r>
              <a:endParaRPr sz="1000" b="0" dirty="0">
                <a:solidFill>
                  <a:srgbClr val="6C6C74"/>
                </a:solidFill>
                <a:latin typeface="Aptos"/>
              </a:endParaRPr>
            </a:p>
          </p:txBody>
        </p:sp>
        <p:pic>
          <p:nvPicPr>
            <p:cNvPr id="34" name="Picture 27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70117" y="2588690"/>
              <a:ext cx="237083" cy="304800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536504CC-D3C9-4C51-8086-682D91CB9E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61663" b="10527"/>
            <a:stretch/>
          </p:blipFill>
          <p:spPr>
            <a:xfrm>
              <a:off x="6334114" y="3452657"/>
              <a:ext cx="1229513" cy="1942192"/>
            </a:xfrm>
            <a:prstGeom prst="rect">
              <a:avLst/>
            </a:prstGeom>
          </p:spPr>
        </p:pic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2873FC94-88BD-4566-B354-3DAB75EF1F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332029" y="3452658"/>
              <a:ext cx="1993501" cy="2145180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98BF2BF-54F2-4F46-AD5B-8ED96A72638E}"/>
              </a:ext>
            </a:extLst>
          </p:cNvPr>
          <p:cNvGrpSpPr/>
          <p:nvPr/>
        </p:nvGrpSpPr>
        <p:grpSpPr>
          <a:xfrm>
            <a:off x="8102500" y="2321990"/>
            <a:ext cx="3556099" cy="3875610"/>
            <a:chOff x="8102500" y="2321990"/>
            <a:chExt cx="3556099" cy="3875610"/>
          </a:xfrm>
        </p:grpSpPr>
        <p:pic>
          <p:nvPicPr>
            <p:cNvPr id="35" name="Picture 4" descr="image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102500" y="2321990"/>
              <a:ext cx="3556099" cy="3875610"/>
            </a:xfrm>
            <a:prstGeom prst="rect">
              <a:avLst/>
            </a:prstGeom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</p:pic>
        <p:sp>
          <p:nvSpPr>
            <p:cNvPr id="23" name="TextBox 22"/>
            <p:cNvSpPr txBox="1"/>
            <p:nvPr/>
          </p:nvSpPr>
          <p:spPr>
            <a:xfrm>
              <a:off x="8612606" y="2538398"/>
              <a:ext cx="2743200" cy="36576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800" b="1" dirty="0" err="1">
                  <a:solidFill>
                    <a:srgbClr val="19191D"/>
                  </a:solidFill>
                  <a:latin typeface="Aptos"/>
                </a:rPr>
                <a:t>또래픽</a:t>
              </a:r>
              <a:endParaRPr sz="1800" b="1" dirty="0">
                <a:solidFill>
                  <a:srgbClr val="19191D"/>
                </a:solidFill>
                <a:latin typeface="Aptos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357616" y="2943313"/>
              <a:ext cx="2743200" cy="274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000" b="0" dirty="0" err="1">
                  <a:solidFill>
                    <a:srgbClr val="6C6C74"/>
                  </a:solidFill>
                  <a:latin typeface="Aptos"/>
                </a:rPr>
                <a:t>또래</a:t>
              </a:r>
              <a:r>
                <a:rPr sz="1000" b="0" dirty="0">
                  <a:solidFill>
                    <a:srgbClr val="6C6C74"/>
                  </a:solidFill>
                  <a:latin typeface="Aptos"/>
                </a:rPr>
                <a:t> </a:t>
              </a:r>
              <a:r>
                <a:rPr sz="1000" b="0" dirty="0" err="1">
                  <a:solidFill>
                    <a:srgbClr val="6C6C74"/>
                  </a:solidFill>
                  <a:latin typeface="Aptos"/>
                </a:rPr>
                <a:t>취향으로</a:t>
              </a:r>
              <a:r>
                <a:rPr sz="1000" b="0" dirty="0">
                  <a:solidFill>
                    <a:srgbClr val="6C6C74"/>
                  </a:solidFill>
                  <a:latin typeface="Aptos"/>
                </a:rPr>
                <a:t> </a:t>
              </a:r>
              <a:r>
                <a:rPr sz="1000" b="0" dirty="0" err="1">
                  <a:solidFill>
                    <a:srgbClr val="6C6C74"/>
                  </a:solidFill>
                  <a:latin typeface="Aptos"/>
                </a:rPr>
                <a:t>찾기</a:t>
              </a:r>
              <a:endParaRPr sz="1000" b="0" dirty="0">
                <a:solidFill>
                  <a:srgbClr val="6C6C74"/>
                </a:solidFill>
                <a:latin typeface="Aptos"/>
              </a:endParaRPr>
            </a:p>
          </p:txBody>
        </p:sp>
        <p:pic>
          <p:nvPicPr>
            <p:cNvPr id="36" name="Picture 28" descr="image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321575" y="2588690"/>
              <a:ext cx="237083" cy="304800"/>
            </a:xfrm>
            <a:prstGeom prst="rect">
              <a:avLst/>
            </a:prstGeom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7F7CDB9D-B037-4F11-829D-B824A460A1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r="68554"/>
            <a:stretch/>
          </p:blipFill>
          <p:spPr>
            <a:xfrm>
              <a:off x="9898619" y="2849803"/>
              <a:ext cx="1346048" cy="1992846"/>
            </a:xfrm>
            <a:prstGeom prst="rect">
              <a:avLst/>
            </a:prstGeom>
          </p:spPr>
        </p:pic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49D1F53C-FA6D-4A27-B4FB-EB5DC3AE18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28349"/>
            <a:stretch/>
          </p:blipFill>
          <p:spPr>
            <a:xfrm>
              <a:off x="8475520" y="3901575"/>
              <a:ext cx="2698767" cy="1753582"/>
            </a:xfrm>
            <a:prstGeom prst="rect">
              <a:avLst/>
            </a:prstGeom>
          </p:spPr>
        </p:pic>
      </p:grpSp>
      <p:pic>
        <p:nvPicPr>
          <p:cNvPr id="41" name="그림 40">
            <a:extLst>
              <a:ext uri="{FF2B5EF4-FFF2-40B4-BE49-F238E27FC236}">
                <a16:creationId xmlns:a16="http://schemas.microsoft.com/office/drawing/2014/main" id="{D197A3B0-EFBF-4054-9AFF-1D96B5D32B1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28684" y="787284"/>
            <a:ext cx="4084196" cy="117146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 12">
            <a:extLst>
              <a:ext uri="{FF2B5EF4-FFF2-40B4-BE49-F238E27FC236}">
                <a16:creationId xmlns:a16="http://schemas.microsoft.com/office/drawing/2014/main" id="{FA88B178-458B-4F78-B2BF-379AA55A4B50}"/>
              </a:ext>
            </a:extLst>
          </p:cNvPr>
          <p:cNvSpPr/>
          <p:nvPr/>
        </p:nvSpPr>
        <p:spPr>
          <a:xfrm>
            <a:off x="431590" y="4816849"/>
            <a:ext cx="5136136" cy="1012790"/>
          </a:xfrm>
          <a:prstGeom prst="round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ounded Rectangle 1"/>
          <p:cNvSpPr/>
          <p:nvPr/>
        </p:nvSpPr>
        <p:spPr>
          <a:xfrm>
            <a:off x="566928" y="329184"/>
            <a:ext cx="621792" cy="347472"/>
          </a:xfrm>
          <a:prstGeom prst="round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79809"/>
            <a:ext cx="621792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0</a:t>
            </a:r>
            <a:r>
              <a:rPr lang="en-US" sz="1000" b="1" dirty="0">
                <a:solidFill>
                  <a:srgbClr val="FFFFFF"/>
                </a:solidFill>
                <a:latin typeface="Aptos"/>
              </a:rPr>
              <a:t>7</a:t>
            </a:r>
            <a:endParaRPr sz="1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98448" y="347472"/>
            <a:ext cx="3474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F4C4C"/>
                </a:solidFill>
                <a:latin typeface="Aptos"/>
              </a:rPr>
              <a:t>CALENDAR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9611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9191D"/>
                </a:solidFill>
                <a:latin typeface="Aptos"/>
              </a:rPr>
              <a:t>관람 캘린더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37941"/>
            <a:ext cx="53035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 err="1">
                <a:solidFill>
                  <a:srgbClr val="6C6C74"/>
                </a:solidFill>
                <a:latin typeface="Aptos"/>
              </a:rPr>
              <a:t>오늘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날짜를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기준으로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선택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상태를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보여주고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,
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선택한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날짜에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따라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티켓을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확인하는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날짜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중심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탐색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기능입니다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80994" y="568934"/>
            <a:ext cx="4946903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 dirty="0" err="1">
                <a:solidFill>
                  <a:srgbClr val="FF4C4C"/>
                </a:solidFill>
                <a:latin typeface="Aptos"/>
              </a:rPr>
              <a:t>CalendarPage</a:t>
            </a:r>
            <a:r>
              <a:rPr sz="800" b="1" dirty="0">
                <a:solidFill>
                  <a:srgbClr val="FF4C4C"/>
                </a:solidFill>
                <a:latin typeface="Aptos"/>
              </a:rPr>
              <a:t> </a:t>
            </a:r>
            <a:r>
              <a:rPr lang="en-US" sz="800" b="1" dirty="0">
                <a:solidFill>
                  <a:srgbClr val="FF4C4C"/>
                </a:solidFill>
                <a:latin typeface="Aptos"/>
              </a:rPr>
              <a:t>.</a:t>
            </a:r>
            <a:r>
              <a:rPr lang="en-US" sz="800" b="1" dirty="0" err="1">
                <a:solidFill>
                  <a:srgbClr val="FF4C4C"/>
                </a:solidFill>
                <a:latin typeface="Aptos"/>
              </a:rPr>
              <a:t>js</a:t>
            </a:r>
            <a:r>
              <a:rPr sz="800" b="1" dirty="0">
                <a:solidFill>
                  <a:srgbClr val="FF4C4C"/>
                </a:solidFill>
                <a:latin typeface="Aptos"/>
              </a:rPr>
              <a:t> - </a:t>
            </a:r>
            <a:r>
              <a:rPr sz="800" b="1" dirty="0" err="1">
                <a:solidFill>
                  <a:srgbClr val="FF4C4C"/>
                </a:solidFill>
                <a:latin typeface="Aptos"/>
              </a:rPr>
              <a:t>날짜</a:t>
            </a:r>
            <a:r>
              <a:rPr sz="800" b="1" dirty="0">
                <a:solidFill>
                  <a:srgbClr val="FF4C4C"/>
                </a:solidFill>
                <a:latin typeface="Aptos"/>
              </a:rPr>
              <a:t> State</a:t>
            </a:r>
            <a:r>
              <a:rPr lang="en-US" sz="800" b="1" dirty="0">
                <a:solidFill>
                  <a:srgbClr val="FF4C4C"/>
                </a:solidFill>
                <a:latin typeface="Aptos"/>
              </a:rPr>
              <a:t> &amp; </a:t>
            </a:r>
            <a:r>
              <a:rPr lang="ko-KR" altLang="en-US" sz="800" b="1" dirty="0">
                <a:solidFill>
                  <a:srgbClr val="FF4C4C"/>
                </a:solidFill>
                <a:latin typeface="Aptos"/>
              </a:rPr>
              <a:t>필터링</a:t>
            </a:r>
            <a:endParaRPr sz="800" b="1" dirty="0">
              <a:solidFill>
                <a:srgbClr val="FF4C4C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2461" y="4924101"/>
            <a:ext cx="4947618" cy="730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9191D"/>
                </a:solidFill>
                <a:latin typeface="Aptos"/>
              </a:defRPr>
            </a:pPr>
            <a:r>
              <a:rPr sz="1050" dirty="0"/>
              <a:t>• </a:t>
            </a:r>
            <a:r>
              <a:rPr sz="1050" dirty="0" err="1"/>
              <a:t>useState로</a:t>
            </a:r>
            <a:r>
              <a:rPr sz="1050" dirty="0"/>
              <a:t> </a:t>
            </a:r>
            <a:r>
              <a:rPr sz="1050" dirty="0" err="1"/>
              <a:t>사용자가</a:t>
            </a:r>
            <a:r>
              <a:rPr sz="1050" dirty="0"/>
              <a:t> </a:t>
            </a:r>
            <a:r>
              <a:rPr sz="1050" dirty="0" err="1"/>
              <a:t>선택한</a:t>
            </a:r>
            <a:r>
              <a:rPr sz="1050" dirty="0"/>
              <a:t> </a:t>
            </a:r>
            <a:r>
              <a:rPr sz="1050" dirty="0" err="1"/>
              <a:t>날짜</a:t>
            </a:r>
            <a:r>
              <a:rPr sz="1050" dirty="0"/>
              <a:t> </a:t>
            </a:r>
            <a:r>
              <a:rPr sz="1050" dirty="0" err="1"/>
              <a:t>관리</a:t>
            </a:r>
            <a:endParaRPr sz="1050" dirty="0"/>
          </a:p>
          <a:p>
            <a:pPr>
              <a:spcAft>
                <a:spcPts val="600"/>
              </a:spcAft>
              <a:defRPr sz="1050">
                <a:solidFill>
                  <a:srgbClr val="19191D"/>
                </a:solidFill>
                <a:latin typeface="Aptos"/>
              </a:defRPr>
            </a:pPr>
            <a:r>
              <a:rPr sz="1050" dirty="0"/>
              <a:t>• </a:t>
            </a:r>
            <a:r>
              <a:rPr sz="1050" dirty="0" err="1"/>
              <a:t>오늘</a:t>
            </a:r>
            <a:r>
              <a:rPr sz="1050" dirty="0"/>
              <a:t> </a:t>
            </a:r>
            <a:r>
              <a:rPr sz="1050" dirty="0" err="1"/>
              <a:t>날짜를</a:t>
            </a:r>
            <a:r>
              <a:rPr sz="1050" dirty="0"/>
              <a:t> </a:t>
            </a:r>
            <a:r>
              <a:rPr sz="1050" dirty="0" err="1"/>
              <a:t>기본값으로</a:t>
            </a:r>
            <a:r>
              <a:rPr sz="1050" dirty="0"/>
              <a:t> </a:t>
            </a:r>
            <a:r>
              <a:rPr sz="1050" dirty="0" err="1"/>
              <a:t>표시</a:t>
            </a:r>
            <a:endParaRPr sz="1050" dirty="0"/>
          </a:p>
          <a:p>
            <a:pPr>
              <a:spcAft>
                <a:spcPts val="600"/>
              </a:spcAft>
              <a:defRPr sz="1050">
                <a:solidFill>
                  <a:srgbClr val="19191D"/>
                </a:solidFill>
                <a:latin typeface="Aptos"/>
              </a:defRPr>
            </a:pPr>
            <a:r>
              <a:rPr sz="1050" dirty="0"/>
              <a:t>• </a:t>
            </a:r>
            <a:r>
              <a:rPr sz="1050" dirty="0" err="1"/>
              <a:t>날짜</a:t>
            </a:r>
            <a:r>
              <a:rPr sz="1050" dirty="0"/>
              <a:t> </a:t>
            </a:r>
            <a:r>
              <a:rPr sz="1050" dirty="0" err="1"/>
              <a:t>클릭</a:t>
            </a:r>
            <a:r>
              <a:rPr sz="1050" dirty="0"/>
              <a:t> 시 </a:t>
            </a:r>
            <a:r>
              <a:rPr sz="1050" dirty="0" err="1"/>
              <a:t>UI가</a:t>
            </a:r>
            <a:r>
              <a:rPr sz="1050" dirty="0"/>
              <a:t> </a:t>
            </a:r>
            <a:r>
              <a:rPr sz="1050" dirty="0" err="1"/>
              <a:t>즉시</a:t>
            </a:r>
            <a:r>
              <a:rPr sz="1050" dirty="0"/>
              <a:t> </a:t>
            </a:r>
            <a:r>
              <a:rPr sz="1050" dirty="0" err="1"/>
              <a:t>변경되어</a:t>
            </a:r>
            <a:r>
              <a:rPr sz="1050" dirty="0"/>
              <a:t> </a:t>
            </a:r>
            <a:r>
              <a:rPr sz="1050" dirty="0" err="1"/>
              <a:t>반응성</a:t>
            </a:r>
            <a:r>
              <a:rPr sz="1050" dirty="0"/>
              <a:t> </a:t>
            </a:r>
            <a:r>
              <a:rPr sz="1050" dirty="0" err="1"/>
              <a:t>제공</a:t>
            </a:r>
            <a:endParaRPr sz="1050" dirty="0"/>
          </a:p>
        </p:txBody>
      </p:sp>
      <p:sp>
        <p:nvSpPr>
          <p:cNvPr id="14" name="TextBox 13"/>
          <p:cNvSpPr txBox="1"/>
          <p:nvPr/>
        </p:nvSpPr>
        <p:spPr>
          <a:xfrm>
            <a:off x="566928" y="6396228"/>
            <a:ext cx="3108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6C6C74"/>
                </a:solidFill>
                <a:latin typeface="Aptos"/>
              </a:rPr>
              <a:t>TIME TICKET · REACT PORTFOLIO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6C6C74"/>
                </a:solidFill>
                <a:latin typeface="Aptos"/>
              </a:rPr>
              <a:t>07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C54827D-1F15-4A8C-90EB-FA2CEE921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89" y="2164451"/>
            <a:ext cx="2590190" cy="24431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2AAB2A4-C757-4DA3-8548-6B355B3CC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1779" y="2164451"/>
            <a:ext cx="2545946" cy="24431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F0C16836-EEFF-48AA-85F8-195E2E7A0AE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242"/>
          <a:stretch/>
        </p:blipFill>
        <p:spPr>
          <a:xfrm>
            <a:off x="6282424" y="1127727"/>
            <a:ext cx="4890630" cy="27160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B8F07932-AD47-4488-B4B9-E2F87FFD40E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9185"/>
          <a:stretch/>
        </p:blipFill>
        <p:spPr>
          <a:xfrm>
            <a:off x="5775769" y="3843815"/>
            <a:ext cx="6178677" cy="15832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33362E72-8BC0-4EA9-823C-DDB15327344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14093"/>
          <a:stretch/>
        </p:blipFill>
        <p:spPr>
          <a:xfrm>
            <a:off x="6784365" y="5400908"/>
            <a:ext cx="3905795" cy="9165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B50CE1B-FD28-466C-B9E3-9D25474A04CA}"/>
              </a:ext>
            </a:extLst>
          </p:cNvPr>
          <p:cNvSpPr txBox="1"/>
          <p:nvPr/>
        </p:nvSpPr>
        <p:spPr>
          <a:xfrm>
            <a:off x="6191561" y="949297"/>
            <a:ext cx="5091404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ko-KR" sz="1100" dirty="0">
                <a:highlight>
                  <a:srgbClr val="FFFF00"/>
                </a:highlight>
              </a:rPr>
              <a:t>// 1. </a:t>
            </a:r>
            <a:r>
              <a:rPr lang="ko-KR" altLang="en-US" sz="1100" dirty="0">
                <a:highlight>
                  <a:srgbClr val="FFFF00"/>
                </a:highlight>
              </a:rPr>
              <a:t>오늘 날짜</a:t>
            </a:r>
            <a:r>
              <a:rPr lang="en-US" altLang="ko-KR" sz="1100" dirty="0">
                <a:highlight>
                  <a:srgbClr val="FFFF00"/>
                </a:highlight>
              </a:rPr>
              <a:t>(YYYY-MM-DD)</a:t>
            </a:r>
            <a:r>
              <a:rPr lang="ko-KR" altLang="en-US" sz="1100" dirty="0">
                <a:highlight>
                  <a:srgbClr val="FFFF00"/>
                </a:highlight>
              </a:rPr>
              <a:t>를 기본 </a:t>
            </a:r>
            <a:r>
              <a:rPr lang="ko-KR" altLang="en-US" sz="1100" dirty="0" err="1">
                <a:highlight>
                  <a:srgbClr val="FFFF00"/>
                </a:highlight>
              </a:rPr>
              <a:t>상태값으로</a:t>
            </a:r>
            <a:r>
              <a:rPr lang="ko-KR" altLang="en-US" sz="1100" dirty="0">
                <a:highlight>
                  <a:srgbClr val="FFFF00"/>
                </a:highlight>
              </a:rPr>
              <a:t> 자동 초기화</a:t>
            </a:r>
            <a:endParaRPr sz="1100" b="1" dirty="0">
              <a:highlight>
                <a:srgbClr val="FFFF00"/>
              </a:highlight>
              <a:latin typeface="Apto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CB825A-5F1F-4A91-88AE-46DCB677C572}"/>
              </a:ext>
            </a:extLst>
          </p:cNvPr>
          <p:cNvSpPr txBox="1"/>
          <p:nvPr/>
        </p:nvSpPr>
        <p:spPr>
          <a:xfrm>
            <a:off x="5680519" y="3816762"/>
            <a:ext cx="5091404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ko-KR" sz="1100" dirty="0">
                <a:highlight>
                  <a:srgbClr val="FFFF00"/>
                </a:highlight>
              </a:rPr>
              <a:t>// 2. </a:t>
            </a:r>
            <a:r>
              <a:rPr lang="ko-KR" altLang="en-US" sz="1100" dirty="0">
                <a:highlight>
                  <a:srgbClr val="FFFF00"/>
                </a:highlight>
              </a:rPr>
              <a:t>달력 일자 클릭 시 선택 날짜 문자열 갱신</a:t>
            </a:r>
            <a:endParaRPr sz="1100" b="1" dirty="0">
              <a:highlight>
                <a:srgbClr val="FFFF00"/>
              </a:highlight>
              <a:latin typeface="Apto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593368-9D6B-45CD-BB65-2990A78F7D8B}"/>
              </a:ext>
            </a:extLst>
          </p:cNvPr>
          <p:cNvSpPr txBox="1"/>
          <p:nvPr/>
        </p:nvSpPr>
        <p:spPr>
          <a:xfrm>
            <a:off x="6690697" y="5488756"/>
            <a:ext cx="5091404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ko-KR" sz="1100" dirty="0">
                <a:highlight>
                  <a:srgbClr val="FFFF00"/>
                </a:highlight>
              </a:rPr>
              <a:t>// 3. </a:t>
            </a:r>
            <a:r>
              <a:rPr lang="ko-KR" altLang="en-US" sz="1100" dirty="0">
                <a:highlight>
                  <a:srgbClr val="FFFF00"/>
                </a:highlight>
              </a:rPr>
              <a:t>선택된 날짜와 일치하는 티켓 데이터 실시간 필터링</a:t>
            </a:r>
            <a:endParaRPr sz="1100" b="1" dirty="0">
              <a:highlight>
                <a:srgbClr val="FFFF00"/>
              </a:highlight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928" y="329184"/>
            <a:ext cx="621792" cy="347472"/>
          </a:xfrm>
          <a:prstGeom prst="round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79809"/>
            <a:ext cx="621792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0</a:t>
            </a:r>
            <a:r>
              <a:rPr lang="en-US" sz="1000" b="1" dirty="0">
                <a:solidFill>
                  <a:srgbClr val="FFFFFF"/>
                </a:solidFill>
                <a:latin typeface="Aptos"/>
              </a:rPr>
              <a:t>8</a:t>
            </a:r>
            <a:endParaRPr sz="1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98448" y="347472"/>
            <a:ext cx="3474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F4C4C"/>
                </a:solidFill>
                <a:latin typeface="Aptos"/>
              </a:rPr>
              <a:t>NEARBY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037" y="830795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dirty="0">
                <a:solidFill>
                  <a:srgbClr val="19191D"/>
                </a:solidFill>
                <a:latin typeface="Aptos"/>
              </a:rPr>
              <a:t>내 </a:t>
            </a:r>
            <a:r>
              <a:rPr sz="3000" b="1" dirty="0" err="1">
                <a:solidFill>
                  <a:srgbClr val="19191D"/>
                </a:solidFill>
                <a:latin typeface="Aptos"/>
              </a:rPr>
              <a:t>주위</a:t>
            </a:r>
            <a:r>
              <a:rPr sz="3000" b="1" dirty="0">
                <a:solidFill>
                  <a:srgbClr val="19191D"/>
                </a:solidFill>
                <a:latin typeface="Aptos"/>
              </a:rPr>
              <a:t> </a:t>
            </a:r>
            <a:r>
              <a:rPr sz="3000" b="1" dirty="0" err="1">
                <a:solidFill>
                  <a:srgbClr val="19191D"/>
                </a:solidFill>
                <a:latin typeface="Aptos"/>
              </a:rPr>
              <a:t>티켓</a:t>
            </a:r>
            <a:endParaRPr sz="3000" b="1" dirty="0">
              <a:solidFill>
                <a:srgbClr val="19191D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264081"/>
            <a:ext cx="5486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 err="1">
                <a:solidFill>
                  <a:srgbClr val="6C6C74"/>
                </a:solidFill>
                <a:latin typeface="Aptos"/>
              </a:rPr>
              <a:t>현재는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지역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선택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기반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필터링으로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구현하고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,
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추후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Kakao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Map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API를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연동해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실제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위치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기반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서비스로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확장할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계획입니다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3973" y="1659832"/>
            <a:ext cx="4946903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 dirty="0">
                <a:solidFill>
                  <a:srgbClr val="FF4C4C"/>
                </a:solidFill>
                <a:latin typeface="Aptos"/>
              </a:rPr>
              <a:t>NearbyPage.js - </a:t>
            </a:r>
            <a:r>
              <a:rPr sz="800" b="1" dirty="0" err="1">
                <a:solidFill>
                  <a:srgbClr val="FF4C4C"/>
                </a:solidFill>
                <a:latin typeface="Aptos"/>
              </a:rPr>
              <a:t>지역</a:t>
            </a:r>
            <a:r>
              <a:rPr sz="800" b="1" dirty="0">
                <a:solidFill>
                  <a:srgbClr val="FF4C4C"/>
                </a:solidFill>
                <a:latin typeface="Aptos"/>
              </a:rPr>
              <a:t> </a:t>
            </a:r>
            <a:r>
              <a:rPr sz="800" b="1" dirty="0" err="1">
                <a:solidFill>
                  <a:srgbClr val="FF4C4C"/>
                </a:solidFill>
                <a:latin typeface="Aptos"/>
              </a:rPr>
              <a:t>필터</a:t>
            </a:r>
            <a:endParaRPr sz="800" b="1" dirty="0">
              <a:solidFill>
                <a:srgbClr val="FF4C4C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68785" y="4629539"/>
            <a:ext cx="3826597" cy="1012790"/>
          </a:xfrm>
          <a:prstGeom prst="round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784" y="4524949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 dirty="0">
                <a:solidFill>
                  <a:srgbClr val="FF4C4C"/>
                </a:solidFill>
                <a:latin typeface="Aptos"/>
              </a:rPr>
              <a:t>NEXT 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497" y="4711436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dirty="0" err="1">
                <a:solidFill>
                  <a:srgbClr val="FF4C4C"/>
                </a:solidFill>
                <a:latin typeface="Aptos"/>
              </a:rPr>
              <a:t>Kakao</a:t>
            </a:r>
            <a:r>
              <a:rPr sz="1800" b="1" dirty="0">
                <a:solidFill>
                  <a:srgbClr val="FF4C4C"/>
                </a:solidFill>
                <a:latin typeface="Aptos"/>
              </a:rPr>
              <a:t> Map API </a:t>
            </a:r>
            <a:r>
              <a:rPr sz="1800" b="1" dirty="0" err="1">
                <a:solidFill>
                  <a:srgbClr val="FF4C4C"/>
                </a:solidFill>
                <a:latin typeface="Aptos"/>
              </a:rPr>
              <a:t>연동</a:t>
            </a:r>
            <a:endParaRPr sz="1800" b="1" dirty="0">
              <a:solidFill>
                <a:srgbClr val="FF4C4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9497" y="5024317"/>
            <a:ext cx="448056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ko-KR" altLang="en-US" sz="1000" b="0" dirty="0">
                <a:solidFill>
                  <a:srgbClr val="6C6C74"/>
                </a:solidFill>
                <a:latin typeface="Aptos"/>
              </a:rPr>
              <a:t>추후 카카오 지도 </a:t>
            </a:r>
            <a:r>
              <a:rPr lang="en-US" altLang="ko-KR" sz="1000" b="0" dirty="0">
                <a:solidFill>
                  <a:srgbClr val="6C6C74"/>
                </a:solidFill>
                <a:latin typeface="Aptos"/>
              </a:rPr>
              <a:t>SDK</a:t>
            </a:r>
            <a:r>
              <a:rPr lang="ko-KR" altLang="en-US" sz="1000" b="0" dirty="0">
                <a:solidFill>
                  <a:srgbClr val="6C6C74"/>
                </a:solidFill>
                <a:latin typeface="Aptos"/>
              </a:rPr>
              <a:t>연동으로 </a:t>
            </a:r>
            <a:r>
              <a:rPr sz="1000" b="0" dirty="0" err="1">
                <a:solidFill>
                  <a:srgbClr val="6C6C74"/>
                </a:solidFill>
                <a:latin typeface="Aptos"/>
              </a:rPr>
              <a:t>지도</a:t>
            </a:r>
            <a:r>
              <a:rPr sz="1000" b="0" dirty="0">
                <a:solidFill>
                  <a:srgbClr val="6C6C74"/>
                </a:solidFill>
                <a:latin typeface="Aptos"/>
              </a:rPr>
              <a:t> 위 </a:t>
            </a:r>
            <a:r>
              <a:rPr sz="1000" b="0" dirty="0" err="1">
                <a:solidFill>
                  <a:srgbClr val="6C6C74"/>
                </a:solidFill>
                <a:latin typeface="Aptos"/>
              </a:rPr>
              <a:t>마커</a:t>
            </a:r>
            <a:r>
              <a:rPr sz="10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000" b="0" dirty="0" err="1">
                <a:solidFill>
                  <a:srgbClr val="6C6C74"/>
                </a:solidFill>
                <a:latin typeface="Aptos"/>
              </a:rPr>
              <a:t>표시</a:t>
            </a:r>
            <a:r>
              <a:rPr sz="1000" b="0" dirty="0">
                <a:solidFill>
                  <a:srgbClr val="6C6C74"/>
                </a:solidFill>
                <a:latin typeface="Aptos"/>
              </a:rPr>
              <a:t>, </a:t>
            </a:r>
            <a:endParaRPr lang="en-US" sz="1000" b="0" dirty="0">
              <a:solidFill>
                <a:srgbClr val="6C6C74"/>
              </a:solidFill>
              <a:latin typeface="Aptos"/>
            </a:endParaRPr>
          </a:p>
          <a:p>
            <a:pPr algn="l"/>
            <a:r>
              <a:rPr sz="1000" b="0" dirty="0" err="1">
                <a:solidFill>
                  <a:srgbClr val="6C6C74"/>
                </a:solidFill>
                <a:latin typeface="Aptos"/>
              </a:rPr>
              <a:t>현재</a:t>
            </a:r>
            <a:r>
              <a:rPr sz="10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000" b="0" dirty="0" err="1">
                <a:solidFill>
                  <a:srgbClr val="6C6C74"/>
                </a:solidFill>
                <a:latin typeface="Aptos"/>
              </a:rPr>
              <a:t>위치</a:t>
            </a:r>
            <a:r>
              <a:rPr sz="10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000" b="0" dirty="0" err="1">
                <a:solidFill>
                  <a:srgbClr val="6C6C74"/>
                </a:solidFill>
                <a:latin typeface="Aptos"/>
              </a:rPr>
              <a:t>기반</a:t>
            </a:r>
            <a:r>
              <a:rPr sz="10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000" b="0" dirty="0" err="1">
                <a:solidFill>
                  <a:srgbClr val="6C6C74"/>
                </a:solidFill>
                <a:latin typeface="Aptos"/>
              </a:rPr>
              <a:t>주변</a:t>
            </a:r>
            <a:r>
              <a:rPr sz="10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000" b="0" dirty="0" err="1">
                <a:solidFill>
                  <a:srgbClr val="6C6C74"/>
                </a:solidFill>
                <a:latin typeface="Aptos"/>
              </a:rPr>
              <a:t>티켓</a:t>
            </a:r>
            <a:r>
              <a:rPr sz="10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000" b="0" dirty="0" err="1">
                <a:solidFill>
                  <a:srgbClr val="6C6C74"/>
                </a:solidFill>
                <a:latin typeface="Aptos"/>
              </a:rPr>
              <a:t>추천으로</a:t>
            </a:r>
            <a:r>
              <a:rPr sz="10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000" b="0" dirty="0" err="1">
                <a:solidFill>
                  <a:srgbClr val="6C6C74"/>
                </a:solidFill>
                <a:latin typeface="Aptos"/>
              </a:rPr>
              <a:t>확장</a:t>
            </a:r>
            <a:r>
              <a:rPr sz="10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000" b="0" dirty="0" err="1">
                <a:solidFill>
                  <a:srgbClr val="6C6C74"/>
                </a:solidFill>
                <a:latin typeface="Aptos"/>
              </a:rPr>
              <a:t>예정</a:t>
            </a:r>
            <a:endParaRPr sz="1000" b="0" dirty="0">
              <a:solidFill>
                <a:srgbClr val="6C6C74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928" y="6428232"/>
            <a:ext cx="3108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6C6C74"/>
                </a:solidFill>
                <a:latin typeface="Aptos"/>
              </a:rPr>
              <a:t>TIME TICKET · REACT PORTFOLIO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6C6C74"/>
                </a:solidFill>
                <a:latin typeface="Aptos"/>
              </a:rPr>
              <a:t>08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E3DADC9A-85E9-4C7E-A173-9BBD949E8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073" y="4602139"/>
            <a:ext cx="2489817" cy="205469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9FB50A16-A22C-48FB-9AB3-874A24548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070" y="1984393"/>
            <a:ext cx="4305042" cy="24548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7623C028-CE02-4916-AA12-48AC60F1C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807" y="1984394"/>
            <a:ext cx="2503658" cy="24548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B09E6BAC-AB81-4B5B-AA5D-F505900AD4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9378" y="1957518"/>
            <a:ext cx="4243502" cy="32537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D3013F8C-B4DB-431A-9E6E-C65333EDA0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7120" y="5263883"/>
            <a:ext cx="4243501" cy="72968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9D8860F-6583-4B04-9F07-1217A34470A8}"/>
              </a:ext>
            </a:extLst>
          </p:cNvPr>
          <p:cNvSpPr txBox="1"/>
          <p:nvPr/>
        </p:nvSpPr>
        <p:spPr>
          <a:xfrm>
            <a:off x="7283243" y="1761077"/>
            <a:ext cx="3195035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ko-KR" sz="1100" dirty="0">
                <a:highlight>
                  <a:srgbClr val="FFFF00"/>
                </a:highlight>
              </a:rPr>
              <a:t>// 1. </a:t>
            </a:r>
            <a:r>
              <a:rPr lang="ko-KR" altLang="en-US" sz="1100" dirty="0">
                <a:highlight>
                  <a:srgbClr val="FFFF00"/>
                </a:highlight>
              </a:rPr>
              <a:t>선택된 지역 상태 관리 </a:t>
            </a:r>
            <a:r>
              <a:rPr lang="en-US" altLang="ko-KR" sz="1100" dirty="0">
                <a:highlight>
                  <a:srgbClr val="FFFF00"/>
                </a:highlight>
              </a:rPr>
              <a:t>(</a:t>
            </a:r>
            <a:r>
              <a:rPr lang="ko-KR" altLang="en-US" sz="1100" dirty="0">
                <a:highlight>
                  <a:srgbClr val="FFFF00"/>
                </a:highlight>
              </a:rPr>
              <a:t>기본값</a:t>
            </a:r>
            <a:r>
              <a:rPr lang="en-US" altLang="ko-KR" sz="1100" dirty="0">
                <a:highlight>
                  <a:srgbClr val="FFFF00"/>
                </a:highlight>
              </a:rPr>
              <a:t>: </a:t>
            </a:r>
            <a:r>
              <a:rPr lang="ko-KR" altLang="en-US" sz="1100" dirty="0">
                <a:highlight>
                  <a:srgbClr val="FFFF00"/>
                </a:highlight>
              </a:rPr>
              <a:t>빈 문자열</a:t>
            </a:r>
            <a:r>
              <a:rPr lang="en-US" altLang="ko-KR" sz="1100" dirty="0">
                <a:highlight>
                  <a:srgbClr val="FFFF00"/>
                </a:highlight>
              </a:rPr>
              <a:t>)</a:t>
            </a:r>
            <a:endParaRPr sz="1100" b="1" dirty="0">
              <a:highlight>
                <a:srgbClr val="FFFF00"/>
              </a:highlight>
              <a:latin typeface="Apto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6FAA41-1DDA-495A-954F-67C4714045F2}"/>
              </a:ext>
            </a:extLst>
          </p:cNvPr>
          <p:cNvSpPr txBox="1"/>
          <p:nvPr/>
        </p:nvSpPr>
        <p:spPr>
          <a:xfrm>
            <a:off x="7699349" y="4374488"/>
            <a:ext cx="5091404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ko-KR" sz="1100" dirty="0">
                <a:highlight>
                  <a:srgbClr val="FFFF00"/>
                </a:highlight>
              </a:rPr>
              <a:t>// 2. </a:t>
            </a:r>
            <a:r>
              <a:rPr lang="ko-KR" altLang="en-US" sz="1100" dirty="0">
                <a:highlight>
                  <a:srgbClr val="FFFF00"/>
                </a:highlight>
              </a:rPr>
              <a:t>지역 선택 시 </a:t>
            </a:r>
            <a:r>
              <a:rPr lang="en-US" altLang="ko-KR" sz="1100" dirty="0" err="1">
                <a:highlight>
                  <a:srgbClr val="FFFF00"/>
                </a:highlight>
              </a:rPr>
              <a:t>ticketData</a:t>
            </a:r>
            <a:r>
              <a:rPr lang="ko-KR" altLang="en-US" sz="1100" dirty="0">
                <a:highlight>
                  <a:srgbClr val="FFFF00"/>
                </a:highlight>
              </a:rPr>
              <a:t>에서 </a:t>
            </a:r>
            <a:r>
              <a:rPr lang="en-US" altLang="ko-KR" sz="1100" dirty="0">
                <a:highlight>
                  <a:srgbClr val="FFFF00"/>
                </a:highlight>
              </a:rPr>
              <a:t>place </a:t>
            </a:r>
            <a:r>
              <a:rPr lang="ko-KR" altLang="en-US" sz="1100" dirty="0">
                <a:highlight>
                  <a:srgbClr val="FFFF00"/>
                </a:highlight>
              </a:rPr>
              <a:t>문자열 매칭 필터링</a:t>
            </a:r>
            <a:endParaRPr sz="1100" b="1" dirty="0">
              <a:highlight>
                <a:srgbClr val="FFFF00"/>
              </a:highlight>
              <a:latin typeface="Apto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B66DD49-5A54-4C91-8B7D-099424CF5821}"/>
              </a:ext>
            </a:extLst>
          </p:cNvPr>
          <p:cNvSpPr txBox="1"/>
          <p:nvPr/>
        </p:nvSpPr>
        <p:spPr>
          <a:xfrm>
            <a:off x="7264581" y="5133078"/>
            <a:ext cx="5091404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ko-KR" sz="1100" dirty="0">
                <a:highlight>
                  <a:srgbClr val="FFFF00"/>
                </a:highlight>
              </a:rPr>
              <a:t>// 3. </a:t>
            </a:r>
            <a:r>
              <a:rPr lang="ko-KR" altLang="en-US" sz="1100" dirty="0">
                <a:highlight>
                  <a:srgbClr val="FFFF00"/>
                </a:highlight>
              </a:rPr>
              <a:t>지역 초기화 </a:t>
            </a:r>
            <a:r>
              <a:rPr lang="ko-KR" altLang="en-US" sz="1100" dirty="0" err="1">
                <a:highlight>
                  <a:srgbClr val="FFFF00"/>
                </a:highlight>
              </a:rPr>
              <a:t>핸들러</a:t>
            </a:r>
            <a:endParaRPr sz="1100" b="1" dirty="0">
              <a:highlight>
                <a:srgbClr val="FFFF00"/>
              </a:highlight>
              <a:latin typeface="Aptos"/>
            </a:endParaRP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0537B585-BF40-41ED-8EC4-5E434F8AF9A9}"/>
              </a:ext>
            </a:extLst>
          </p:cNvPr>
          <p:cNvSpPr/>
          <p:nvPr/>
        </p:nvSpPr>
        <p:spPr>
          <a:xfrm>
            <a:off x="3983713" y="5072481"/>
            <a:ext cx="780298" cy="261610"/>
          </a:xfrm>
          <a:prstGeom prst="rightArrow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A1DCFBDA-7C0B-4BAA-8D0D-3C2CA7023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47" y="1870476"/>
            <a:ext cx="4975170" cy="40023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Rounded Rectangle 12">
            <a:extLst>
              <a:ext uri="{FF2B5EF4-FFF2-40B4-BE49-F238E27FC236}">
                <a16:creationId xmlns:a16="http://schemas.microsoft.com/office/drawing/2014/main" id="{23028063-E0BF-4883-9737-3506853208BE}"/>
              </a:ext>
            </a:extLst>
          </p:cNvPr>
          <p:cNvSpPr/>
          <p:nvPr/>
        </p:nvSpPr>
        <p:spPr>
          <a:xfrm>
            <a:off x="2159508" y="4945301"/>
            <a:ext cx="4203192" cy="1012790"/>
          </a:xfrm>
          <a:prstGeom prst="round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ounded Rectangle 1"/>
          <p:cNvSpPr/>
          <p:nvPr/>
        </p:nvSpPr>
        <p:spPr>
          <a:xfrm>
            <a:off x="566928" y="329184"/>
            <a:ext cx="621792" cy="347472"/>
          </a:xfrm>
          <a:prstGeom prst="round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79809"/>
            <a:ext cx="621792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0</a:t>
            </a:r>
            <a:r>
              <a:rPr lang="en-US" sz="1000" b="1" dirty="0">
                <a:solidFill>
                  <a:srgbClr val="FFFFFF"/>
                </a:solidFill>
                <a:latin typeface="Aptos"/>
              </a:rPr>
              <a:t>9</a:t>
            </a:r>
            <a:endParaRPr sz="1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98448" y="347472"/>
            <a:ext cx="3474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F4C4C"/>
                </a:solidFill>
                <a:latin typeface="Aptos"/>
              </a:rPr>
              <a:t>TREND PICK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12133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dirty="0" err="1">
                <a:solidFill>
                  <a:srgbClr val="19191D"/>
                </a:solidFill>
                <a:latin typeface="Aptos"/>
              </a:rPr>
              <a:t>또래픽</a:t>
            </a:r>
            <a:endParaRPr sz="3000" b="1" dirty="0">
              <a:solidFill>
                <a:srgbClr val="19191D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262" y="1209901"/>
            <a:ext cx="5394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 err="1">
                <a:solidFill>
                  <a:srgbClr val="6C6C74"/>
                </a:solidFill>
                <a:latin typeface="Aptos"/>
              </a:rPr>
              <a:t>성별과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연령대를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선택하면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비슷한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사용자층이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많이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선택한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티켓을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
TOP 5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형태로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보여주는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추천형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탐색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기능입니다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26448" y="637539"/>
            <a:ext cx="4946903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 dirty="0">
                <a:solidFill>
                  <a:srgbClr val="FF4C4C"/>
                </a:solidFill>
                <a:latin typeface="Aptos"/>
              </a:rPr>
              <a:t>TrendPage.js - </a:t>
            </a:r>
            <a:r>
              <a:rPr sz="800" b="1" dirty="0" err="1">
                <a:solidFill>
                  <a:srgbClr val="FF4C4C"/>
                </a:solidFill>
                <a:latin typeface="Aptos"/>
              </a:rPr>
              <a:t>조건</a:t>
            </a:r>
            <a:r>
              <a:rPr sz="800" b="1" dirty="0">
                <a:solidFill>
                  <a:srgbClr val="FF4C4C"/>
                </a:solidFill>
                <a:latin typeface="Aptos"/>
              </a:rPr>
              <a:t> </a:t>
            </a:r>
            <a:r>
              <a:rPr sz="800" b="1" dirty="0" err="1">
                <a:solidFill>
                  <a:srgbClr val="FF4C4C"/>
                </a:solidFill>
                <a:latin typeface="Aptos"/>
              </a:rPr>
              <a:t>선택</a:t>
            </a:r>
            <a:r>
              <a:rPr sz="800" b="1" dirty="0">
                <a:solidFill>
                  <a:srgbClr val="FF4C4C"/>
                </a:solidFill>
                <a:latin typeface="Aptos"/>
              </a:rPr>
              <a:t> + TOP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2100" y="5079598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9191D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조건을</a:t>
            </a:r>
            <a:r>
              <a:rPr dirty="0"/>
              <a:t> </a:t>
            </a:r>
            <a:r>
              <a:rPr dirty="0" err="1"/>
              <a:t>State로</a:t>
            </a:r>
            <a:r>
              <a:rPr dirty="0"/>
              <a:t> </a:t>
            </a:r>
            <a:r>
              <a:rPr dirty="0" err="1"/>
              <a:t>관리</a:t>
            </a:r>
            <a:endParaRPr dirty="0"/>
          </a:p>
          <a:p>
            <a:pPr>
              <a:spcAft>
                <a:spcPts val="600"/>
              </a:spcAft>
              <a:defRPr sz="1050">
                <a:solidFill>
                  <a:srgbClr val="19191D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조건에</a:t>
            </a:r>
            <a:r>
              <a:rPr dirty="0"/>
              <a:t> </a:t>
            </a:r>
            <a:r>
              <a:rPr dirty="0" err="1"/>
              <a:t>맞는</a:t>
            </a:r>
            <a:r>
              <a:rPr dirty="0"/>
              <a:t> </a:t>
            </a:r>
            <a:r>
              <a:rPr dirty="0" err="1"/>
              <a:t>티켓을</a:t>
            </a:r>
            <a:r>
              <a:rPr dirty="0"/>
              <a:t> </a:t>
            </a:r>
            <a:r>
              <a:rPr dirty="0" err="1"/>
              <a:t>계산하여</a:t>
            </a:r>
            <a:r>
              <a:rPr dirty="0"/>
              <a:t> </a:t>
            </a:r>
            <a:r>
              <a:rPr dirty="0" err="1"/>
              <a:t>순위화</a:t>
            </a:r>
            <a:endParaRPr dirty="0"/>
          </a:p>
          <a:p>
            <a:pPr>
              <a:spcAft>
                <a:spcPts val="600"/>
              </a:spcAft>
              <a:defRPr sz="1050">
                <a:solidFill>
                  <a:srgbClr val="19191D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성별</a:t>
            </a:r>
            <a:r>
              <a:rPr dirty="0"/>
              <a:t>/</a:t>
            </a:r>
            <a:r>
              <a:rPr dirty="0" err="1"/>
              <a:t>연령</a:t>
            </a:r>
            <a:r>
              <a:rPr dirty="0"/>
              <a:t> </a:t>
            </a:r>
            <a:r>
              <a:rPr dirty="0" err="1"/>
              <a:t>분포를</a:t>
            </a:r>
            <a:r>
              <a:rPr dirty="0"/>
              <a:t> </a:t>
            </a:r>
            <a:r>
              <a:rPr dirty="0" err="1"/>
              <a:t>시각적으로</a:t>
            </a:r>
            <a:r>
              <a:rPr dirty="0"/>
              <a:t> </a:t>
            </a:r>
            <a:r>
              <a:rPr dirty="0" err="1"/>
              <a:t>표현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566928" y="6428232"/>
            <a:ext cx="3108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6C6C74"/>
                </a:solidFill>
                <a:latin typeface="Aptos"/>
              </a:rPr>
              <a:t>TIME TICKET · REACT PORTFOLIO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6C6C74"/>
                </a:solidFill>
                <a:latin typeface="Aptos"/>
              </a:rPr>
              <a:t>09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5CC6D9C2-3171-445C-8247-8426BB2590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355"/>
          <a:stretch/>
        </p:blipFill>
        <p:spPr>
          <a:xfrm>
            <a:off x="6887566" y="919334"/>
            <a:ext cx="4104133" cy="18448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2C99D3E0-83E1-4360-9F5C-A3423BEF30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566" y="2764195"/>
            <a:ext cx="4104133" cy="34039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3FFF3EF-07D6-4FEF-9ABA-363972906CAB}"/>
              </a:ext>
            </a:extLst>
          </p:cNvPr>
          <p:cNvSpPr txBox="1"/>
          <p:nvPr/>
        </p:nvSpPr>
        <p:spPr>
          <a:xfrm>
            <a:off x="6787943" y="929591"/>
            <a:ext cx="3195035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ko-KR" sz="1100" dirty="0">
                <a:highlight>
                  <a:srgbClr val="FFFF00"/>
                </a:highlight>
              </a:rPr>
              <a:t>// 1. </a:t>
            </a:r>
            <a:r>
              <a:rPr lang="ko-KR" altLang="en-US" sz="1100" dirty="0">
                <a:highlight>
                  <a:srgbClr val="FFFF00"/>
                </a:highlight>
              </a:rPr>
              <a:t>유효성 검사 및 결과 뷰 활성화 </a:t>
            </a:r>
            <a:r>
              <a:rPr lang="ko-KR" altLang="en-US" sz="1100" dirty="0" err="1">
                <a:highlight>
                  <a:srgbClr val="FFFF00"/>
                </a:highlight>
              </a:rPr>
              <a:t>핸들러</a:t>
            </a:r>
            <a:endParaRPr sz="1100" b="1" dirty="0">
              <a:highlight>
                <a:srgbClr val="FFFF00"/>
              </a:highlight>
              <a:latin typeface="Apto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621233-9008-4F59-8B38-0C0C43931C30}"/>
              </a:ext>
            </a:extLst>
          </p:cNvPr>
          <p:cNvSpPr txBox="1"/>
          <p:nvPr/>
        </p:nvSpPr>
        <p:spPr>
          <a:xfrm>
            <a:off x="6787943" y="2711000"/>
            <a:ext cx="3854657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ko-KR" sz="1100" dirty="0">
                <a:highlight>
                  <a:srgbClr val="FFFF00"/>
                </a:highlight>
              </a:rPr>
              <a:t>// 2. </a:t>
            </a:r>
            <a:r>
              <a:rPr lang="ko-KR" altLang="en-US" sz="1100" dirty="0">
                <a:highlight>
                  <a:srgbClr val="FFFF00"/>
                </a:highlight>
              </a:rPr>
              <a:t>성별 </a:t>
            </a:r>
            <a:r>
              <a:rPr lang="en-US" altLang="ko-KR" sz="1100" dirty="0">
                <a:highlight>
                  <a:srgbClr val="FFFF00"/>
                </a:highlight>
              </a:rPr>
              <a:t>+ </a:t>
            </a:r>
            <a:r>
              <a:rPr lang="ko-KR" altLang="en-US" sz="1100" dirty="0">
                <a:highlight>
                  <a:srgbClr val="FFFF00"/>
                </a:highlight>
              </a:rPr>
              <a:t>연령대 비율 합산</a:t>
            </a:r>
            <a:r>
              <a:rPr lang="en-US" altLang="ko-KR" sz="1100" dirty="0">
                <a:highlight>
                  <a:srgbClr val="FFFF00"/>
                </a:highlight>
              </a:rPr>
              <a:t>(</a:t>
            </a:r>
            <a:r>
              <a:rPr lang="en-US" altLang="ko-KR" sz="1100" dirty="0" err="1">
                <a:highlight>
                  <a:srgbClr val="FFFF00"/>
                </a:highlight>
              </a:rPr>
              <a:t>trendScore</a:t>
            </a:r>
            <a:r>
              <a:rPr lang="en-US" altLang="ko-KR" sz="1100" dirty="0">
                <a:highlight>
                  <a:srgbClr val="FFFF00"/>
                </a:highlight>
              </a:rPr>
              <a:t>) </a:t>
            </a:r>
            <a:r>
              <a:rPr lang="ko-KR" altLang="en-US" sz="1100" dirty="0">
                <a:highlight>
                  <a:srgbClr val="FFFF00"/>
                </a:highlight>
              </a:rPr>
              <a:t>및 </a:t>
            </a:r>
            <a:r>
              <a:rPr lang="en-US" altLang="ko-KR" sz="1100" dirty="0">
                <a:highlight>
                  <a:srgbClr val="FFFF00"/>
                </a:highlight>
              </a:rPr>
              <a:t>TOP 5 </a:t>
            </a:r>
            <a:r>
              <a:rPr lang="ko-KR" altLang="en-US" sz="1100" dirty="0" err="1">
                <a:highlight>
                  <a:srgbClr val="FFFF00"/>
                </a:highlight>
              </a:rPr>
              <a:t>슬라이싱</a:t>
            </a:r>
            <a:endParaRPr sz="1100" b="1" dirty="0">
              <a:highlight>
                <a:srgbClr val="FFFF00"/>
              </a:highlight>
              <a:latin typeface="Apto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03024C-7C38-457B-BA4B-E02F218A503C}"/>
              </a:ext>
            </a:extLst>
          </p:cNvPr>
          <p:cNvSpPr txBox="1"/>
          <p:nvPr/>
        </p:nvSpPr>
        <p:spPr>
          <a:xfrm>
            <a:off x="9982978" y="3476858"/>
            <a:ext cx="3854657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ko-KR" sz="1100" dirty="0">
                <a:highlight>
                  <a:srgbClr val="FFFF00"/>
                </a:highlight>
              </a:rPr>
              <a:t>// </a:t>
            </a:r>
            <a:r>
              <a:rPr lang="ko-KR" altLang="en-US" sz="1100" dirty="0">
                <a:highlight>
                  <a:srgbClr val="FFFF00"/>
                </a:highlight>
              </a:rPr>
              <a:t>선택 성별 비율</a:t>
            </a:r>
            <a:endParaRPr sz="1100" b="1" dirty="0">
              <a:highlight>
                <a:srgbClr val="FFFF00"/>
              </a:highlight>
              <a:latin typeface="Apto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FCC435-DFFB-48DC-B6F7-AA3401E0E63E}"/>
              </a:ext>
            </a:extLst>
          </p:cNvPr>
          <p:cNvSpPr txBox="1"/>
          <p:nvPr/>
        </p:nvSpPr>
        <p:spPr>
          <a:xfrm>
            <a:off x="9685551" y="3685273"/>
            <a:ext cx="3854657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ko-KR" sz="1100" dirty="0">
                <a:highlight>
                  <a:srgbClr val="FFFF00"/>
                </a:highlight>
              </a:rPr>
              <a:t>// </a:t>
            </a:r>
            <a:r>
              <a:rPr lang="ko-KR" altLang="en-US" sz="1100" dirty="0">
                <a:highlight>
                  <a:srgbClr val="FFFF00"/>
                </a:highlight>
              </a:rPr>
              <a:t>선택 연령대 비율</a:t>
            </a:r>
            <a:endParaRPr sz="1100" b="1" dirty="0">
              <a:highlight>
                <a:srgbClr val="FFFF00"/>
              </a:highlight>
              <a:latin typeface="Apto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87E491-5F33-4C38-B880-288836987ABB}"/>
              </a:ext>
            </a:extLst>
          </p:cNvPr>
          <p:cNvSpPr txBox="1"/>
          <p:nvPr/>
        </p:nvSpPr>
        <p:spPr>
          <a:xfrm>
            <a:off x="10045970" y="5583329"/>
            <a:ext cx="3854657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ko-KR" sz="1100" dirty="0">
                <a:highlight>
                  <a:srgbClr val="FFFF00"/>
                </a:highlight>
              </a:rPr>
              <a:t>// </a:t>
            </a:r>
            <a:r>
              <a:rPr lang="ko-KR" altLang="en-US" sz="1100" dirty="0">
                <a:highlight>
                  <a:srgbClr val="FFFF00"/>
                </a:highlight>
              </a:rPr>
              <a:t>높은 순 정렬</a:t>
            </a:r>
            <a:endParaRPr sz="1100" b="1" dirty="0">
              <a:highlight>
                <a:srgbClr val="FFFF00"/>
              </a:highlight>
              <a:latin typeface="Apto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4C1C61-5B01-4E1E-B652-AA47AA28C8DE}"/>
              </a:ext>
            </a:extLst>
          </p:cNvPr>
          <p:cNvSpPr txBox="1"/>
          <p:nvPr/>
        </p:nvSpPr>
        <p:spPr>
          <a:xfrm>
            <a:off x="8118641" y="5805429"/>
            <a:ext cx="3854657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ko-KR" sz="1100" dirty="0">
                <a:highlight>
                  <a:srgbClr val="FFFF00"/>
                </a:highlight>
              </a:rPr>
              <a:t>// TOP 5</a:t>
            </a:r>
            <a:r>
              <a:rPr lang="ko-KR" altLang="en-US" sz="1100" dirty="0">
                <a:highlight>
                  <a:srgbClr val="FFFF00"/>
                </a:highlight>
              </a:rPr>
              <a:t>추출</a:t>
            </a:r>
            <a:endParaRPr sz="1100" b="1" dirty="0">
              <a:highlight>
                <a:srgbClr val="FFFF00"/>
              </a:highlight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928" y="329184"/>
            <a:ext cx="621792" cy="347472"/>
          </a:xfrm>
          <a:prstGeom prst="round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79809"/>
            <a:ext cx="621792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ptos"/>
              </a:rPr>
              <a:t>10</a:t>
            </a:r>
            <a:endParaRPr sz="1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98448" y="347472"/>
            <a:ext cx="3474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F4C4C"/>
                </a:solidFill>
                <a:latin typeface="Aptos"/>
              </a:rPr>
              <a:t>BOOKING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0434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dirty="0" err="1">
                <a:solidFill>
                  <a:srgbClr val="19191D"/>
                </a:solidFill>
                <a:latin typeface="Aptos"/>
              </a:rPr>
              <a:t>상세</a:t>
            </a:r>
            <a:r>
              <a:rPr sz="3000" b="1" dirty="0">
                <a:solidFill>
                  <a:srgbClr val="19191D"/>
                </a:solidFill>
                <a:latin typeface="Aptos"/>
              </a:rPr>
              <a:t> </a:t>
            </a:r>
            <a:r>
              <a:rPr sz="3000" b="1" dirty="0" err="1">
                <a:solidFill>
                  <a:srgbClr val="19191D"/>
                </a:solidFill>
                <a:latin typeface="Aptos"/>
              </a:rPr>
              <a:t>페이지와</a:t>
            </a:r>
            <a:r>
              <a:rPr sz="3000" b="1" dirty="0">
                <a:solidFill>
                  <a:srgbClr val="19191D"/>
                </a:solidFill>
                <a:latin typeface="Aptos"/>
              </a:rPr>
              <a:t> </a:t>
            </a:r>
            <a:r>
              <a:rPr sz="3000" b="1" dirty="0" err="1">
                <a:solidFill>
                  <a:srgbClr val="19191D"/>
                </a:solidFill>
                <a:latin typeface="Aptos"/>
              </a:rPr>
              <a:t>예매</a:t>
            </a:r>
            <a:r>
              <a:rPr sz="3000" b="1" dirty="0">
                <a:solidFill>
                  <a:srgbClr val="19191D"/>
                </a:solidFill>
                <a:latin typeface="Aptos"/>
              </a:rPr>
              <a:t> </a:t>
            </a:r>
            <a:r>
              <a:rPr sz="3000" b="1" dirty="0" err="1">
                <a:solidFill>
                  <a:srgbClr val="19191D"/>
                </a:solidFill>
                <a:latin typeface="Aptos"/>
              </a:rPr>
              <a:t>계산</a:t>
            </a:r>
            <a:endParaRPr sz="3000" b="1" dirty="0">
              <a:solidFill>
                <a:srgbClr val="19191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68916" y="635003"/>
            <a:ext cx="4946903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 dirty="0">
                <a:solidFill>
                  <a:srgbClr val="FF4C4C"/>
                </a:solidFill>
                <a:latin typeface="Aptos"/>
              </a:rPr>
              <a:t>DetailPage.js - </a:t>
            </a:r>
            <a:r>
              <a:rPr sz="800" b="1" dirty="0" err="1">
                <a:solidFill>
                  <a:srgbClr val="FF4C4C"/>
                </a:solidFill>
                <a:latin typeface="Aptos"/>
              </a:rPr>
              <a:t>권종</a:t>
            </a:r>
            <a:r>
              <a:rPr sz="800" b="1" dirty="0">
                <a:solidFill>
                  <a:srgbClr val="FF4C4C"/>
                </a:solidFill>
                <a:latin typeface="Aptos"/>
              </a:rPr>
              <a:t>/</a:t>
            </a:r>
            <a:r>
              <a:rPr sz="800" b="1" dirty="0" err="1">
                <a:solidFill>
                  <a:srgbClr val="FF4C4C"/>
                </a:solidFill>
                <a:latin typeface="Aptos"/>
              </a:rPr>
              <a:t>수량</a:t>
            </a:r>
            <a:r>
              <a:rPr sz="800" b="1" dirty="0">
                <a:solidFill>
                  <a:srgbClr val="FF4C4C"/>
                </a:solidFill>
                <a:latin typeface="Aptos"/>
              </a:rPr>
              <a:t>/</a:t>
            </a:r>
            <a:r>
              <a:rPr sz="800" b="1" dirty="0" err="1">
                <a:solidFill>
                  <a:srgbClr val="FF4C4C"/>
                </a:solidFill>
                <a:latin typeface="Aptos"/>
              </a:rPr>
              <a:t>금액</a:t>
            </a:r>
            <a:r>
              <a:rPr sz="800" b="1" dirty="0">
                <a:solidFill>
                  <a:srgbClr val="FF4C4C"/>
                </a:solidFill>
                <a:latin typeface="Aptos"/>
              </a:rPr>
              <a:t> </a:t>
            </a:r>
            <a:r>
              <a:rPr sz="800" b="1" dirty="0" err="1">
                <a:solidFill>
                  <a:srgbClr val="FF4C4C"/>
                </a:solidFill>
                <a:latin typeface="Aptos"/>
              </a:rPr>
              <a:t>계산</a:t>
            </a:r>
            <a:endParaRPr sz="800" b="1" dirty="0">
              <a:solidFill>
                <a:srgbClr val="FF4C4C"/>
              </a:solidFill>
              <a:latin typeface="Aptos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4F45836-7277-4FEA-B72B-DAB5C637F06F}"/>
              </a:ext>
            </a:extLst>
          </p:cNvPr>
          <p:cNvGrpSpPr/>
          <p:nvPr/>
        </p:nvGrpSpPr>
        <p:grpSpPr>
          <a:xfrm>
            <a:off x="6303069" y="1078484"/>
            <a:ext cx="5120639" cy="685800"/>
            <a:chOff x="6053328" y="5389961"/>
            <a:chExt cx="5120639" cy="685800"/>
          </a:xfrm>
        </p:grpSpPr>
        <p:sp>
          <p:nvSpPr>
            <p:cNvPr id="13" name="Rounded Rectangle 12"/>
            <p:cNvSpPr/>
            <p:nvPr/>
          </p:nvSpPr>
          <p:spPr>
            <a:xfrm>
              <a:off x="6053328" y="5389961"/>
              <a:ext cx="1143000" cy="685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0E0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053328" y="5481401"/>
              <a:ext cx="1143000" cy="20116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800" b="1">
                  <a:solidFill>
                    <a:srgbClr val="FF4C4C"/>
                  </a:solidFill>
                  <a:latin typeface="Aptos"/>
                </a:rPr>
                <a:t>날짜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053328" y="5700857"/>
              <a:ext cx="1143000" cy="2286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720" b="0">
                  <a:solidFill>
                    <a:srgbClr val="6C6C74"/>
                  </a:solidFill>
                  <a:latin typeface="Aptos"/>
                </a:rPr>
                <a:t>selectedDay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379208" y="5389961"/>
              <a:ext cx="1143000" cy="685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0E0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379208" y="5481401"/>
              <a:ext cx="1143000" cy="20116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800" b="1">
                  <a:solidFill>
                    <a:srgbClr val="FF4C4C"/>
                  </a:solidFill>
                  <a:latin typeface="Aptos"/>
                </a:rPr>
                <a:t>시간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379208" y="5700857"/>
              <a:ext cx="1143000" cy="2286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720" b="0">
                  <a:solidFill>
                    <a:srgbClr val="6C6C74"/>
                  </a:solidFill>
                  <a:latin typeface="Aptos"/>
                </a:rPr>
                <a:t>selectedTime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705088" y="5389961"/>
              <a:ext cx="1143000" cy="685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0E0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705088" y="5481401"/>
              <a:ext cx="1143000" cy="20116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800" b="1">
                  <a:solidFill>
                    <a:srgbClr val="FF4C4C"/>
                  </a:solidFill>
                  <a:latin typeface="Aptos"/>
                </a:rPr>
                <a:t>권종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705088" y="5700857"/>
              <a:ext cx="1143000" cy="2286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720" b="0">
                  <a:solidFill>
                    <a:srgbClr val="6C6C74"/>
                  </a:solidFill>
                  <a:latin typeface="Aptos"/>
                </a:rPr>
                <a:t>selectedType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030967" y="5389961"/>
              <a:ext cx="1143000" cy="685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0E0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030967" y="5481401"/>
              <a:ext cx="1143000" cy="20116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800" b="1">
                  <a:solidFill>
                    <a:srgbClr val="FF4C4C"/>
                  </a:solidFill>
                  <a:latin typeface="Aptos"/>
                </a:rPr>
                <a:t>수량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030967" y="5700857"/>
              <a:ext cx="1143000" cy="2286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720" b="0">
                  <a:solidFill>
                    <a:srgbClr val="6C6C74"/>
                  </a:solidFill>
                  <a:latin typeface="Aptos"/>
                </a:rPr>
                <a:t>ticketCount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651122" y="1231270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dirty="0">
                <a:solidFill>
                  <a:srgbClr val="FF4C4C"/>
                </a:solidFill>
                <a:latin typeface="Aptos"/>
              </a:rPr>
              <a:t>POINT  </a:t>
            </a:r>
            <a:r>
              <a:rPr sz="1100" b="1" dirty="0" err="1">
                <a:solidFill>
                  <a:srgbClr val="FF4C4C"/>
                </a:solidFill>
                <a:latin typeface="Aptos"/>
              </a:rPr>
              <a:t>useState로</a:t>
            </a:r>
            <a:r>
              <a:rPr sz="1100" b="1" dirty="0">
                <a:solidFill>
                  <a:srgbClr val="FF4C4C"/>
                </a:solidFill>
                <a:latin typeface="Aptos"/>
              </a:rPr>
              <a:t> </a:t>
            </a:r>
            <a:r>
              <a:rPr sz="1100" b="1" dirty="0" err="1">
                <a:solidFill>
                  <a:srgbClr val="FF4C4C"/>
                </a:solidFill>
                <a:latin typeface="Aptos"/>
              </a:rPr>
              <a:t>선택값을</a:t>
            </a:r>
            <a:r>
              <a:rPr sz="1100" b="1" dirty="0">
                <a:solidFill>
                  <a:srgbClr val="FF4C4C"/>
                </a:solidFill>
                <a:latin typeface="Aptos"/>
              </a:rPr>
              <a:t> </a:t>
            </a:r>
            <a:r>
              <a:rPr sz="1100" b="1" dirty="0" err="1">
                <a:solidFill>
                  <a:srgbClr val="FF4C4C"/>
                </a:solidFill>
                <a:latin typeface="Aptos"/>
              </a:rPr>
              <a:t>관리하고</a:t>
            </a:r>
            <a:r>
              <a:rPr sz="1100" b="1" dirty="0">
                <a:solidFill>
                  <a:srgbClr val="FF4C4C"/>
                </a:solidFill>
                <a:latin typeface="Aptos"/>
              </a:rPr>
              <a:t>, </a:t>
            </a:r>
            <a:r>
              <a:rPr sz="1100" b="1" dirty="0" err="1">
                <a:solidFill>
                  <a:srgbClr val="FF4C4C"/>
                </a:solidFill>
                <a:latin typeface="Aptos"/>
              </a:rPr>
              <a:t>계산식으로</a:t>
            </a:r>
            <a:r>
              <a:rPr sz="1100" b="1" dirty="0">
                <a:solidFill>
                  <a:srgbClr val="FF4C4C"/>
                </a:solidFill>
                <a:latin typeface="Aptos"/>
              </a:rPr>
              <a:t> </a:t>
            </a:r>
            <a:r>
              <a:rPr sz="1100" b="1" dirty="0" err="1">
                <a:solidFill>
                  <a:srgbClr val="FF4C4C"/>
                </a:solidFill>
                <a:latin typeface="Aptos"/>
              </a:rPr>
              <a:t>결제</a:t>
            </a:r>
            <a:r>
              <a:rPr sz="1100" b="1" dirty="0">
                <a:solidFill>
                  <a:srgbClr val="FF4C4C"/>
                </a:solidFill>
                <a:latin typeface="Aptos"/>
              </a:rPr>
              <a:t> </a:t>
            </a:r>
            <a:r>
              <a:rPr sz="1100" b="1" dirty="0" err="1">
                <a:solidFill>
                  <a:srgbClr val="FF4C4C"/>
                </a:solidFill>
                <a:latin typeface="Aptos"/>
              </a:rPr>
              <a:t>금액을</a:t>
            </a:r>
            <a:r>
              <a:rPr sz="1100" b="1" dirty="0">
                <a:solidFill>
                  <a:srgbClr val="FF4C4C"/>
                </a:solidFill>
                <a:latin typeface="Aptos"/>
              </a:rPr>
              <a:t> </a:t>
            </a:r>
            <a:r>
              <a:rPr sz="1100" b="1" dirty="0" err="1">
                <a:solidFill>
                  <a:srgbClr val="FF4C4C"/>
                </a:solidFill>
                <a:latin typeface="Aptos"/>
              </a:rPr>
              <a:t>실시간</a:t>
            </a:r>
            <a:r>
              <a:rPr sz="1100" b="1" dirty="0">
                <a:solidFill>
                  <a:srgbClr val="FF4C4C"/>
                </a:solidFill>
                <a:latin typeface="Aptos"/>
              </a:rPr>
              <a:t> </a:t>
            </a:r>
            <a:r>
              <a:rPr sz="1100" b="1" dirty="0" err="1">
                <a:solidFill>
                  <a:srgbClr val="FF4C4C"/>
                </a:solidFill>
                <a:latin typeface="Aptos"/>
              </a:rPr>
              <a:t>반영</a:t>
            </a:r>
            <a:endParaRPr sz="1100" b="1" dirty="0">
              <a:solidFill>
                <a:srgbClr val="FF4C4C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6928" y="6428232"/>
            <a:ext cx="3108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6C6C74"/>
                </a:solidFill>
                <a:latin typeface="Aptos"/>
              </a:rPr>
              <a:t>TIME TICKET · REACT PORTFOLIO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6C6C74"/>
                </a:solidFill>
                <a:latin typeface="Aptos"/>
              </a:rPr>
              <a:t>10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1BCF0307-DC66-4BF5-9446-DD22A088B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26" y="1744925"/>
            <a:ext cx="3087499" cy="30269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51BC297A-DE33-4DB5-BFA5-185AD3B6B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754" y="1744925"/>
            <a:ext cx="2027726" cy="41064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F0D23D73-3C02-4709-B474-F4AC3037D1B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56" t="3766" r="2310" b="5258"/>
          <a:stretch/>
        </p:blipFill>
        <p:spPr>
          <a:xfrm>
            <a:off x="468526" y="4885916"/>
            <a:ext cx="3087499" cy="9654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93B13881-58E7-4431-86A4-45AA239E7B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3069" y="2252850"/>
            <a:ext cx="5120639" cy="17052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3D812C67-4C58-4845-91D8-740C4984B1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3069" y="4037834"/>
            <a:ext cx="5120639" cy="9907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79D0BA38-FB3D-4347-AFAA-7656496437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3069" y="5108343"/>
            <a:ext cx="5120639" cy="7430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95BF2C3-383F-4537-9643-E2D5B430470B}"/>
              </a:ext>
            </a:extLst>
          </p:cNvPr>
          <p:cNvSpPr txBox="1"/>
          <p:nvPr/>
        </p:nvSpPr>
        <p:spPr>
          <a:xfrm>
            <a:off x="6206918" y="2134979"/>
            <a:ext cx="3195035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ko-KR" sz="1100" dirty="0">
                <a:highlight>
                  <a:srgbClr val="FFFF00"/>
                </a:highlight>
              </a:rPr>
              <a:t>// 1. </a:t>
            </a:r>
            <a:r>
              <a:rPr lang="ko-KR" altLang="en-US" sz="1100" dirty="0">
                <a:highlight>
                  <a:srgbClr val="FFFF00"/>
                </a:highlight>
              </a:rPr>
              <a:t>예매 옵션 상태 관리 </a:t>
            </a:r>
            <a:r>
              <a:rPr lang="en-US" altLang="ko-KR" sz="1100" dirty="0">
                <a:highlight>
                  <a:srgbClr val="FFFF00"/>
                </a:highlight>
              </a:rPr>
              <a:t>(</a:t>
            </a:r>
            <a:r>
              <a:rPr lang="ko-KR" altLang="en-US" sz="1100" dirty="0">
                <a:highlight>
                  <a:srgbClr val="FFFF00"/>
                </a:highlight>
              </a:rPr>
              <a:t>날짜</a:t>
            </a:r>
            <a:r>
              <a:rPr lang="en-US" altLang="ko-KR" sz="1100" dirty="0">
                <a:highlight>
                  <a:srgbClr val="FFFF00"/>
                </a:highlight>
              </a:rPr>
              <a:t>, </a:t>
            </a:r>
            <a:r>
              <a:rPr lang="ko-KR" altLang="en-US" sz="1100" dirty="0" err="1">
                <a:highlight>
                  <a:srgbClr val="FFFF00"/>
                </a:highlight>
              </a:rPr>
              <a:t>회차</a:t>
            </a:r>
            <a:r>
              <a:rPr lang="en-US" altLang="ko-KR" sz="1100" dirty="0">
                <a:highlight>
                  <a:srgbClr val="FFFF00"/>
                </a:highlight>
              </a:rPr>
              <a:t>, </a:t>
            </a:r>
            <a:r>
              <a:rPr lang="ko-KR" altLang="en-US" sz="1100" dirty="0" err="1">
                <a:highlight>
                  <a:srgbClr val="FFFF00"/>
                </a:highlight>
              </a:rPr>
              <a:t>권종</a:t>
            </a:r>
            <a:r>
              <a:rPr lang="en-US" altLang="ko-KR" sz="1100" dirty="0">
                <a:highlight>
                  <a:srgbClr val="FFFF00"/>
                </a:highlight>
              </a:rPr>
              <a:t>, </a:t>
            </a:r>
            <a:r>
              <a:rPr lang="ko-KR" altLang="en-US" sz="1100" dirty="0">
                <a:highlight>
                  <a:srgbClr val="FFFF00"/>
                </a:highlight>
              </a:rPr>
              <a:t>수량</a:t>
            </a:r>
            <a:r>
              <a:rPr lang="en-US" altLang="ko-KR" sz="1100" dirty="0">
                <a:highlight>
                  <a:srgbClr val="FFFF00"/>
                </a:highlight>
              </a:rPr>
              <a:t>)</a:t>
            </a:r>
            <a:endParaRPr sz="1100" b="1" dirty="0">
              <a:highlight>
                <a:srgbClr val="FFFF00"/>
              </a:highlight>
              <a:latin typeface="Apto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6C34BC-17B6-482A-91BA-408D9D8160CE}"/>
              </a:ext>
            </a:extLst>
          </p:cNvPr>
          <p:cNvSpPr txBox="1"/>
          <p:nvPr/>
        </p:nvSpPr>
        <p:spPr>
          <a:xfrm>
            <a:off x="6206918" y="3907029"/>
            <a:ext cx="4213432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ko-KR" sz="1100" dirty="0">
                <a:highlight>
                  <a:srgbClr val="FFFF00"/>
                </a:highlight>
              </a:rPr>
              <a:t>// 2. </a:t>
            </a:r>
            <a:r>
              <a:rPr lang="ko-KR" altLang="en-US" sz="1100" dirty="0" err="1">
                <a:highlight>
                  <a:srgbClr val="FFFF00"/>
                </a:highlight>
              </a:rPr>
              <a:t>권종별</a:t>
            </a:r>
            <a:r>
              <a:rPr lang="ko-KR" altLang="en-US" sz="1100" dirty="0">
                <a:highlight>
                  <a:srgbClr val="FFFF00"/>
                </a:highlight>
              </a:rPr>
              <a:t> 단가 매핑 및 수량 연동 실시간 총 결제 금액 계산</a:t>
            </a:r>
            <a:r>
              <a:rPr lang="en-US" altLang="ko-KR" sz="1100" dirty="0">
                <a:highlight>
                  <a:srgbClr val="FFFF00"/>
                </a:highlight>
              </a:rPr>
              <a:t>)</a:t>
            </a:r>
            <a:endParaRPr sz="1100" b="1" dirty="0">
              <a:highlight>
                <a:srgbClr val="FFFF00"/>
              </a:highlight>
              <a:latin typeface="Apto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734B8F2-A42A-4D1E-AD6B-6BAB5D0D3648}"/>
              </a:ext>
            </a:extLst>
          </p:cNvPr>
          <p:cNvSpPr txBox="1"/>
          <p:nvPr/>
        </p:nvSpPr>
        <p:spPr>
          <a:xfrm>
            <a:off x="6206918" y="4885916"/>
            <a:ext cx="4213432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ko-KR" sz="1100" dirty="0">
                <a:highlight>
                  <a:srgbClr val="FFFF00"/>
                </a:highlight>
              </a:rPr>
              <a:t>// 3. </a:t>
            </a:r>
            <a:r>
              <a:rPr lang="ko-KR" altLang="en-US" sz="1100" dirty="0">
                <a:highlight>
                  <a:srgbClr val="FFFF00"/>
                </a:highlight>
              </a:rPr>
              <a:t>최종 예매 실행 및 동적 알림</a:t>
            </a:r>
            <a:r>
              <a:rPr lang="en-US" altLang="ko-KR" sz="1100" dirty="0">
                <a:highlight>
                  <a:srgbClr val="FFFF00"/>
                </a:highlight>
              </a:rPr>
              <a:t>(Alert)</a:t>
            </a:r>
            <a:endParaRPr sz="1100" b="1" dirty="0">
              <a:highlight>
                <a:srgbClr val="FFFF00"/>
              </a:highlight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>
            <a:extLst>
              <a:ext uri="{FF2B5EF4-FFF2-40B4-BE49-F238E27FC236}">
                <a16:creationId xmlns:a16="http://schemas.microsoft.com/office/drawing/2014/main" id="{16FDE65D-80A1-4F0D-84A0-9F58874290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577"/>
          <a:stretch/>
        </p:blipFill>
        <p:spPr>
          <a:xfrm>
            <a:off x="5816232" y="817892"/>
            <a:ext cx="3474721" cy="3073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292811B8-D95E-4FE3-9685-D29538AF9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0298" y="2966709"/>
            <a:ext cx="3977752" cy="33332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9" name="Rounded Rectangle 12">
            <a:extLst>
              <a:ext uri="{FF2B5EF4-FFF2-40B4-BE49-F238E27FC236}">
                <a16:creationId xmlns:a16="http://schemas.microsoft.com/office/drawing/2014/main" id="{632D4534-11F4-4AD5-88C0-EDBA92326815}"/>
              </a:ext>
            </a:extLst>
          </p:cNvPr>
          <p:cNvSpPr/>
          <p:nvPr/>
        </p:nvSpPr>
        <p:spPr>
          <a:xfrm>
            <a:off x="784861" y="5239551"/>
            <a:ext cx="4203192" cy="1012790"/>
          </a:xfrm>
          <a:prstGeom prst="round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ounded Rectangle 1"/>
          <p:cNvSpPr/>
          <p:nvPr/>
        </p:nvSpPr>
        <p:spPr>
          <a:xfrm>
            <a:off x="566928" y="329184"/>
            <a:ext cx="621792" cy="347472"/>
          </a:xfrm>
          <a:prstGeom prst="round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79809"/>
            <a:ext cx="621792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1</a:t>
            </a:r>
            <a:r>
              <a:rPr lang="en-US" sz="1000" b="1" dirty="0">
                <a:solidFill>
                  <a:srgbClr val="FFFFFF"/>
                </a:solidFill>
                <a:latin typeface="Aptos"/>
              </a:rPr>
              <a:t>1</a:t>
            </a:r>
            <a:endParaRPr sz="1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98448" y="347472"/>
            <a:ext cx="3474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F4C4C"/>
                </a:solidFill>
                <a:latin typeface="Aptos"/>
              </a:rPr>
              <a:t>LOGIN / INQUIRY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19912"/>
            <a:ext cx="4937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 err="1">
                <a:solidFill>
                  <a:srgbClr val="19191D"/>
                </a:solidFill>
                <a:latin typeface="Aptos"/>
              </a:rPr>
              <a:t>서비스처럼</a:t>
            </a:r>
            <a:r>
              <a:rPr sz="2800" b="1" dirty="0">
                <a:solidFill>
                  <a:srgbClr val="19191D"/>
                </a:solidFill>
                <a:latin typeface="Aptos"/>
              </a:rPr>
              <a:t> </a:t>
            </a:r>
            <a:r>
              <a:rPr sz="2800" b="1" dirty="0" err="1">
                <a:solidFill>
                  <a:srgbClr val="19191D"/>
                </a:solidFill>
                <a:latin typeface="Aptos"/>
              </a:rPr>
              <a:t>보이게</a:t>
            </a:r>
            <a:r>
              <a:rPr sz="2800" b="1" dirty="0">
                <a:solidFill>
                  <a:srgbClr val="19191D"/>
                </a:solidFill>
                <a:latin typeface="Aptos"/>
              </a:rPr>
              <a:t> </a:t>
            </a:r>
            <a:r>
              <a:rPr sz="2800" b="1" dirty="0" err="1">
                <a:solidFill>
                  <a:srgbClr val="19191D"/>
                </a:solidFill>
                <a:latin typeface="Aptos"/>
              </a:rPr>
              <a:t>만드는</a:t>
            </a:r>
            <a:r>
              <a:rPr sz="2800" b="1" dirty="0">
                <a:solidFill>
                  <a:srgbClr val="19191D"/>
                </a:solidFill>
                <a:latin typeface="Aptos"/>
              </a:rPr>
              <a:t>
</a:t>
            </a:r>
            <a:r>
              <a:rPr sz="2800" b="1" dirty="0" err="1">
                <a:solidFill>
                  <a:srgbClr val="19191D"/>
                </a:solidFill>
                <a:latin typeface="Aptos"/>
              </a:rPr>
              <a:t>로그인과</a:t>
            </a:r>
            <a:r>
              <a:rPr sz="2800" b="1" dirty="0">
                <a:solidFill>
                  <a:srgbClr val="19191D"/>
                </a:solidFill>
                <a:latin typeface="Aptos"/>
              </a:rPr>
              <a:t> 1:1 </a:t>
            </a:r>
            <a:r>
              <a:rPr sz="2800" b="1" dirty="0" err="1">
                <a:solidFill>
                  <a:srgbClr val="19191D"/>
                </a:solidFill>
                <a:latin typeface="Aptos"/>
              </a:rPr>
              <a:t>문의</a:t>
            </a:r>
            <a:endParaRPr sz="2800" b="1" dirty="0">
              <a:solidFill>
                <a:srgbClr val="19191D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784985"/>
            <a:ext cx="5577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 err="1">
                <a:solidFill>
                  <a:srgbClr val="6C6C74"/>
                </a:solidFill>
                <a:latin typeface="Aptos"/>
              </a:rPr>
              <a:t>실제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백엔드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없이도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사용자가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서비스를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이용하는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흐름을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보여주기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위해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
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로그인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화면과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문의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등록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데모를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C6C74"/>
                </a:solidFill>
                <a:latin typeface="Aptos"/>
              </a:rPr>
              <a:t>구성했습니다</a:t>
            </a:r>
            <a:r>
              <a:rPr sz="1200" b="0" dirty="0">
                <a:solidFill>
                  <a:srgbClr val="6C6C74"/>
                </a:solidFill>
                <a:latin typeface="Aptos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6600" y="5348859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9191D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고객센터</a:t>
            </a:r>
            <a:r>
              <a:rPr dirty="0"/>
              <a:t> hover </a:t>
            </a:r>
            <a:r>
              <a:rPr dirty="0" err="1"/>
              <a:t>드롭다운</a:t>
            </a:r>
            <a:r>
              <a:rPr dirty="0"/>
              <a:t> </a:t>
            </a:r>
            <a:r>
              <a:rPr dirty="0" err="1"/>
              <a:t>구현</a:t>
            </a:r>
            <a:endParaRPr dirty="0"/>
          </a:p>
          <a:p>
            <a:pPr>
              <a:spcAft>
                <a:spcPts val="600"/>
              </a:spcAft>
              <a:defRPr sz="1050">
                <a:solidFill>
                  <a:srgbClr val="19191D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로그인·가입</a:t>
            </a:r>
            <a:r>
              <a:rPr dirty="0"/>
              <a:t> </a:t>
            </a:r>
            <a:r>
              <a:rPr dirty="0" err="1"/>
              <a:t>페이지</a:t>
            </a:r>
            <a:r>
              <a:rPr dirty="0"/>
              <a:t> </a:t>
            </a:r>
            <a:r>
              <a:rPr dirty="0" err="1"/>
              <a:t>연결</a:t>
            </a:r>
            <a:endParaRPr dirty="0"/>
          </a:p>
          <a:p>
            <a:pPr>
              <a:spcAft>
                <a:spcPts val="600"/>
              </a:spcAft>
              <a:defRPr sz="1050">
                <a:solidFill>
                  <a:srgbClr val="19191D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문의</a:t>
            </a:r>
            <a:r>
              <a:rPr dirty="0"/>
              <a:t> 폼 </a:t>
            </a:r>
            <a:r>
              <a:rPr dirty="0" err="1"/>
              <a:t>입력</a:t>
            </a:r>
            <a:r>
              <a:rPr dirty="0"/>
              <a:t> 후 </a:t>
            </a:r>
            <a:r>
              <a:rPr dirty="0" err="1"/>
              <a:t>데모</a:t>
            </a:r>
            <a:r>
              <a:rPr dirty="0"/>
              <a:t> </a:t>
            </a:r>
            <a:r>
              <a:rPr dirty="0" err="1"/>
              <a:t>등록</a:t>
            </a:r>
            <a:r>
              <a:rPr dirty="0"/>
              <a:t> </a:t>
            </a:r>
            <a:r>
              <a:rPr dirty="0" err="1"/>
              <a:t>알림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566928" y="6428232"/>
            <a:ext cx="3108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6C6C74"/>
                </a:solidFill>
                <a:latin typeface="Aptos"/>
              </a:rPr>
              <a:t>TIME TICKET · REACT PORTFOLIO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6C6C74"/>
                </a:solidFill>
                <a:latin typeface="Aptos"/>
              </a:rPr>
              <a:t>11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3FFDCC70-C1F2-4414-8711-73884E92A3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5996" y="2430018"/>
            <a:ext cx="2364695" cy="26336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0A491458-3B44-4579-A076-7DA95E6B1F5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062" t="1654" r="5309" b="-1654"/>
          <a:stretch/>
        </p:blipFill>
        <p:spPr>
          <a:xfrm>
            <a:off x="784861" y="2430019"/>
            <a:ext cx="2039984" cy="26336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40C74FAE-171C-4486-AA69-13860EFF37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6231" y="722606"/>
            <a:ext cx="3474721" cy="2572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9311FF7-AEB1-463A-A647-754FE20821AA}"/>
              </a:ext>
            </a:extLst>
          </p:cNvPr>
          <p:cNvSpPr txBox="1"/>
          <p:nvPr/>
        </p:nvSpPr>
        <p:spPr>
          <a:xfrm>
            <a:off x="5725970" y="508639"/>
            <a:ext cx="3195035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ko-KR" sz="1100" dirty="0">
                <a:highlight>
                  <a:srgbClr val="FFFF00"/>
                </a:highlight>
              </a:rPr>
              <a:t>// 1. Header GNB: </a:t>
            </a:r>
            <a:r>
              <a:rPr lang="ko-KR" altLang="en-US" sz="1100" dirty="0">
                <a:highlight>
                  <a:srgbClr val="FFFF00"/>
                </a:highlight>
              </a:rPr>
              <a:t>드롭다운 및 페이지 이동 처리</a:t>
            </a:r>
            <a:endParaRPr sz="1100" b="1" dirty="0">
              <a:highlight>
                <a:srgbClr val="FFFF00"/>
              </a:highlight>
              <a:latin typeface="Apto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8D839A-7386-41D8-B539-FC7F5A7DB94D}"/>
              </a:ext>
            </a:extLst>
          </p:cNvPr>
          <p:cNvSpPr txBox="1"/>
          <p:nvPr/>
        </p:nvSpPr>
        <p:spPr>
          <a:xfrm>
            <a:off x="7813925" y="2752724"/>
            <a:ext cx="4263551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ko-KR" sz="1100" dirty="0">
                <a:highlight>
                  <a:srgbClr val="FFFF00"/>
                </a:highlight>
              </a:rPr>
              <a:t>// 2. </a:t>
            </a:r>
            <a:r>
              <a:rPr lang="en-US" altLang="ko-KR" sz="1100" dirty="0" err="1">
                <a:highlight>
                  <a:srgbClr val="FFFF00"/>
                </a:highlight>
              </a:rPr>
              <a:t>InquiryPage</a:t>
            </a:r>
            <a:r>
              <a:rPr lang="en-US" altLang="ko-KR" sz="1100" dirty="0">
                <a:highlight>
                  <a:srgbClr val="FFFF00"/>
                </a:highlight>
              </a:rPr>
              <a:t>: </a:t>
            </a:r>
            <a:r>
              <a:rPr lang="ko-KR" altLang="en-US" sz="1100" dirty="0">
                <a:highlight>
                  <a:srgbClr val="FFFF00"/>
                </a:highlight>
              </a:rPr>
              <a:t>객체 기반 다중 입력 폼 상태 관리 및 유효성 검사</a:t>
            </a:r>
            <a:endParaRPr sz="1100" b="1" dirty="0">
              <a:highlight>
                <a:srgbClr val="FFFF00"/>
              </a:highlight>
              <a:latin typeface="Apto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BB9709-C132-4F70-8E43-B49505D60353}"/>
              </a:ext>
            </a:extLst>
          </p:cNvPr>
          <p:cNvSpPr txBox="1"/>
          <p:nvPr/>
        </p:nvSpPr>
        <p:spPr>
          <a:xfrm>
            <a:off x="10272729" y="2307178"/>
            <a:ext cx="494690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800" b="1" dirty="0">
                <a:solidFill>
                  <a:srgbClr val="FF4C4C"/>
                </a:solidFill>
                <a:latin typeface="Aptos"/>
              </a:rPr>
              <a:t>Header</a:t>
            </a:r>
            <a:r>
              <a:rPr sz="800" b="1" dirty="0">
                <a:solidFill>
                  <a:srgbClr val="FF4C4C"/>
                </a:solidFill>
                <a:latin typeface="Aptos"/>
              </a:rPr>
              <a:t>.js</a:t>
            </a:r>
            <a:r>
              <a:rPr lang="en-US" sz="800" b="1" dirty="0">
                <a:solidFill>
                  <a:srgbClr val="FF4C4C"/>
                </a:solidFill>
                <a:latin typeface="Aptos"/>
              </a:rPr>
              <a:t> &amp; InquiryPage.js </a:t>
            </a:r>
            <a:r>
              <a:rPr sz="800" b="1" dirty="0">
                <a:solidFill>
                  <a:srgbClr val="FF4C4C"/>
                </a:solidFill>
                <a:latin typeface="Aptos"/>
              </a:rPr>
              <a:t> </a:t>
            </a:r>
            <a:endParaRPr lang="en-US" sz="800" b="1" dirty="0">
              <a:solidFill>
                <a:srgbClr val="FF4C4C"/>
              </a:solidFill>
              <a:latin typeface="Aptos"/>
            </a:endParaRPr>
          </a:p>
          <a:p>
            <a:pPr algn="l"/>
            <a:r>
              <a:rPr lang="en-US" sz="800" b="1" dirty="0">
                <a:solidFill>
                  <a:srgbClr val="FF4C4C"/>
                </a:solidFill>
                <a:latin typeface="Aptos"/>
              </a:rPr>
              <a:t>  </a:t>
            </a:r>
            <a:r>
              <a:rPr sz="800" b="1" dirty="0">
                <a:solidFill>
                  <a:srgbClr val="FF4C4C"/>
                </a:solidFill>
                <a:latin typeface="Aptos"/>
              </a:rPr>
              <a:t>- </a:t>
            </a:r>
            <a:r>
              <a:rPr lang="ko-KR" altLang="en-US" sz="800" b="1" dirty="0">
                <a:solidFill>
                  <a:srgbClr val="FF4C4C"/>
                </a:solidFill>
                <a:latin typeface="Aptos"/>
              </a:rPr>
              <a:t>네비게이션 및 문의 폼 핸들링</a:t>
            </a:r>
            <a:endParaRPr sz="800" b="1" dirty="0">
              <a:solidFill>
                <a:srgbClr val="FF4C4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928" y="329184"/>
            <a:ext cx="621792" cy="347472"/>
          </a:xfrm>
          <a:prstGeom prst="round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79809"/>
            <a:ext cx="621792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1</a:t>
            </a:r>
            <a:r>
              <a:rPr lang="en-US" sz="1000" b="1" dirty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347472"/>
            <a:ext cx="3474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F4C4C"/>
                </a:solidFill>
                <a:latin typeface="Aptos"/>
              </a:rPr>
              <a:t>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05840"/>
            <a:ext cx="4572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19191D"/>
                </a:solidFill>
                <a:latin typeface="Aptos"/>
              </a:rPr>
              <a:t>현재 구현에서
더 실제 서비스로 확장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51460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4C4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246888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9191D"/>
                </a:solidFill>
                <a:latin typeface="Aptos"/>
              </a:rPr>
              <a:t>Kakao Map API 연동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468880"/>
            <a:ext cx="4206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C6C74"/>
                </a:solidFill>
                <a:latin typeface="Aptos"/>
              </a:rPr>
              <a:t>내 주위 티켓을 실제 지도/마커 기반으로 확장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33756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4C4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329184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9191D"/>
                </a:solidFill>
                <a:latin typeface="Aptos"/>
              </a:rPr>
              <a:t>실제 로그인 / 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291840"/>
            <a:ext cx="4206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C6C74"/>
                </a:solidFill>
                <a:latin typeface="Aptos"/>
              </a:rPr>
              <a:t>회원 정보와 문의 내역 저장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16052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4C4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411480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9191D"/>
                </a:solidFill>
                <a:latin typeface="Aptos"/>
              </a:rPr>
              <a:t>실제 예매 데이터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114800"/>
            <a:ext cx="4206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C6C74"/>
                </a:solidFill>
                <a:latin typeface="Aptos"/>
              </a:rPr>
              <a:t>좌석, 잔여 수량, 결제 시스템과 연동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143000"/>
            <a:ext cx="3154680" cy="4480560"/>
          </a:xfrm>
          <a:prstGeom prst="round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 rot="21120000">
            <a:off x="8641080" y="1737360"/>
            <a:ext cx="790041" cy="35112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750807" y="1880006"/>
            <a:ext cx="38404" cy="384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882481" y="1880006"/>
            <a:ext cx="38404" cy="384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014155" y="1880006"/>
            <a:ext cx="38404" cy="384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41080" y="2514600"/>
            <a:ext cx="21031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THANK
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886200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React Ticket Service
Portfolio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4800600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탐색 → 상세 → 예매 → 고객지원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28232"/>
            <a:ext cx="3108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6C6C74"/>
                </a:solidFill>
                <a:latin typeface="Aptos"/>
              </a:rPr>
              <a:t>TIME TICKET · REACT PORTFOLIO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6C6C74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1137</Words>
  <Application>Microsoft Office PowerPoint</Application>
  <PresentationFormat>와이드스크린</PresentationFormat>
  <Paragraphs>209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Aptos</vt:lpstr>
      <vt:lpstr>Pretendard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504-15</cp:lastModifiedBy>
  <cp:revision>40</cp:revision>
  <dcterms:created xsi:type="dcterms:W3CDTF">2013-01-27T09:14:16Z</dcterms:created>
  <dcterms:modified xsi:type="dcterms:W3CDTF">2026-09-15T00:49:52Z</dcterms:modified>
  <cp:category/>
</cp:coreProperties>
</file>